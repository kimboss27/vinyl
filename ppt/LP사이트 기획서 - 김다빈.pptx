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265" r:id="rId5"/>
    <p:sldId id="266" r:id="rId6"/>
    <p:sldId id="267" r:id="rId7"/>
    <p:sldId id="262" r:id="rId8"/>
    <p:sldId id="269" r:id="rId9"/>
    <p:sldId id="284" r:id="rId10"/>
    <p:sldId id="283" r:id="rId11"/>
    <p:sldId id="263" r:id="rId12"/>
    <p:sldId id="271" r:id="rId13"/>
    <p:sldId id="275" r:id="rId14"/>
    <p:sldId id="285" r:id="rId15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9273"/>
    <a:srgbClr val="AF60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43"/>
    <p:restoredTop sz="94577"/>
  </p:normalViewPr>
  <p:slideViewPr>
    <p:cSldViewPr snapToGrid="0">
      <p:cViewPr varScale="1">
        <p:scale>
          <a:sx n="116" d="100"/>
          <a:sy n="116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B4740-5BDE-9645-9652-71ED1967726E}" type="datetimeFigureOut">
              <a:rPr kumimoji="1" lang="ko-Kore-KR" altLang="en-US" smtClean="0"/>
              <a:t>2023. 2. 8.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090BD-ED4A-C14B-9F73-DC112F7893AE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61323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F9BFE6-0048-CFD0-37C5-30EEDF263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D78C2A-BA76-2C7C-E0AD-2859B3342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FCF151-6C2C-A1A1-3EFB-D81E9233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2D4BC-7804-B24E-9BE8-D41EA6B2AEA5}" type="datetimeFigureOut">
              <a:rPr kumimoji="1" lang="ko-Kore-KR" altLang="en-US" smtClean="0"/>
              <a:t>2023. 2. 8.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571059-6493-E1B9-CD43-61F8E10D2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F49326-9D48-3ABC-AA24-765B7D37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AE19-4DC1-8946-8DD1-08854FBD3C8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93444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8CDC8F-AB34-545B-0232-521153093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D0B920-7ECA-79F6-6818-66FE0596A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7362EF-40B5-9941-FFE1-BBBA7FE5D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2D4BC-7804-B24E-9BE8-D41EA6B2AEA5}" type="datetimeFigureOut">
              <a:rPr kumimoji="1" lang="ko-Kore-KR" altLang="en-US" smtClean="0"/>
              <a:t>2023. 2. 8.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2C311C-16F3-97A6-7FB9-FFE9A5EF7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F875BF-5FE7-F616-DB33-EB170A98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AE19-4DC1-8946-8DD1-08854FBD3C8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49813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F1724-6B1F-F5BB-8434-B7EDFAA78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235692-3A8F-0BDF-175C-D39508066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E9A25-724B-BE2D-0B14-9EF61F9DE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2D4BC-7804-B24E-9BE8-D41EA6B2AEA5}" type="datetimeFigureOut">
              <a:rPr kumimoji="1" lang="ko-Kore-KR" altLang="en-US" smtClean="0"/>
              <a:t>2023. 2. 8.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630EDB-CED1-EC17-1565-F81DD5FAF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65C1CF-A5DF-4772-0094-522260EC2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AE19-4DC1-8946-8DD1-08854FBD3C8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67680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FAD4AD-A643-9A5E-50AA-0C850EC90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61D499-161D-B840-A99C-5BD0172580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B34081-E05C-C9EE-70A0-17516CB03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B29D7A-FDDE-EF36-5552-DFC1EFBED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2D4BC-7804-B24E-9BE8-D41EA6B2AEA5}" type="datetimeFigureOut">
              <a:rPr kumimoji="1" lang="ko-Kore-KR" altLang="en-US" smtClean="0"/>
              <a:t>2023. 2. 8.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F16360-69BE-47E1-1A20-F1CDB3CB5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81A5F3-6388-34D4-4C1E-5E8D3AE20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AE19-4DC1-8946-8DD1-08854FBD3C8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84572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21AB6B-6C82-FEBD-0C1C-7FC3310D2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2F051A-6448-7B8E-1D07-B9C9B9ECA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64212B-8349-0161-E733-15B3082F9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387CA1-2CC7-502C-2DE1-9D2EB9FE18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C9C9D3-C946-29AA-B62F-A551D6FB8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421FA61-B77E-F20B-4DD1-2151E3F2A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2D4BC-7804-B24E-9BE8-D41EA6B2AEA5}" type="datetimeFigureOut">
              <a:rPr kumimoji="1" lang="ko-Kore-KR" altLang="en-US" smtClean="0"/>
              <a:t>2023. 2. 8.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8AA936-BEEA-CA5D-E2E0-5543F504C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25FBA1-821A-F062-F856-5FCB459C3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AE19-4DC1-8946-8DD1-08854FBD3C8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1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46743-500B-E20C-2B02-F705403E3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A71AF8-6593-8923-6A34-F3BA1D97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2D4BC-7804-B24E-9BE8-D41EA6B2AEA5}" type="datetimeFigureOut">
              <a:rPr kumimoji="1" lang="ko-Kore-KR" altLang="en-US" smtClean="0"/>
              <a:t>2023. 2. 8.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CC799C-0A60-EF69-5CBD-7C8E13A37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23E69B-8C8A-4A77-9BD7-FE3FCD21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AE19-4DC1-8946-8DD1-08854FBD3C8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07479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0A8F90F-66C6-6092-F837-A4488AE4A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2D4BC-7804-B24E-9BE8-D41EA6B2AEA5}" type="datetimeFigureOut">
              <a:rPr kumimoji="1" lang="ko-Kore-KR" altLang="en-US" smtClean="0"/>
              <a:t>2023. 2. 8.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25E002-722E-6117-09FC-870A28333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3ECA47-C171-3E70-F95F-9B779F07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AE19-4DC1-8946-8DD1-08854FBD3C8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57781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27CF78-D374-E224-4EC2-DA26BDB0B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8CC6F4-EE8C-8CBF-D8ED-832D83B08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045AA5-951E-1097-63D2-B7F228732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43C3C0-B151-4B59-E483-55E7E96B4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2D4BC-7804-B24E-9BE8-D41EA6B2AEA5}" type="datetimeFigureOut">
              <a:rPr kumimoji="1" lang="ko-Kore-KR" altLang="en-US" smtClean="0"/>
              <a:t>2023. 2. 8.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03FB36-48CE-F783-7BCE-E6AC7812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4338C4-34D5-8817-1346-C25FC1221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AE19-4DC1-8946-8DD1-08854FBD3C8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80076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5243E8-0DA3-A386-941E-BC3F28D08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794BA8A-AAF7-7190-5BE2-2F86140F34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085E78-4472-2717-2692-6BEC68FDC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5E1037-31A9-32F9-F349-062B79382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2D4BC-7804-B24E-9BE8-D41EA6B2AEA5}" type="datetimeFigureOut">
              <a:rPr kumimoji="1" lang="ko-Kore-KR" altLang="en-US" smtClean="0"/>
              <a:t>2023. 2. 8.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7C9808-E416-E18F-46E0-096FCD91E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6E2885-8EBC-C639-A995-70D3D03BE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AE19-4DC1-8946-8DD1-08854FBD3C8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93102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9AB1E-2EE0-B7BF-C942-9B0AE59C7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5C62B4-FAE7-89E4-3B75-868015E5D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EB7DEC-F42C-6AA4-376F-6BF0D02D3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2D4BC-7804-B24E-9BE8-D41EA6B2AEA5}" type="datetimeFigureOut">
              <a:rPr kumimoji="1" lang="ko-Kore-KR" altLang="en-US" smtClean="0"/>
              <a:t>2023. 2. 8.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39BC2F-CF32-3663-4E1A-0672CACF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0E29D-9056-56E1-43CA-4D9C0C6C7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AE19-4DC1-8946-8DD1-08854FBD3C8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88693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BB9C12-2DA2-6D21-F389-C17A033B03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E15375-98D8-08E3-517E-C03545CDB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19D41A-55B5-64FA-E0F4-F8B7ACA24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2D4BC-7804-B24E-9BE8-D41EA6B2AEA5}" type="datetimeFigureOut">
              <a:rPr kumimoji="1" lang="ko-Kore-KR" altLang="en-US" smtClean="0"/>
              <a:t>2023. 2. 8.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D8079C-7F18-01AC-C3F6-E47515565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E5A286-4A6B-9136-3B55-80FCC227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AE19-4DC1-8946-8DD1-08854FBD3C8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35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DE0A3F-FE2D-5553-6257-B4B59B304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68779C-7056-970F-B30C-FBA5BD884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853AD-950F-F3BF-BC2B-422C3F87B6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2D4BC-7804-B24E-9BE8-D41EA6B2AEA5}" type="datetimeFigureOut">
              <a:rPr kumimoji="1" lang="ko-Kore-KR" altLang="en-US" smtClean="0"/>
              <a:t>2023. 2. 8.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F6CE94-BACD-1B03-F561-90A2110246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B14AB5-0743-8896-0C09-D7F8DDEBE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4AE19-4DC1-8946-8DD1-08854FBD3C8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3793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e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E50276A-FCB4-601D-5572-51577E1B0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374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E9A51BF-1698-3135-9504-ED3AD2482301}"/>
              </a:ext>
            </a:extLst>
          </p:cNvPr>
          <p:cNvSpPr/>
          <p:nvPr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B39273">
              <a:alpha val="8065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B32DA3-69EA-4894-B9C4-85A7C82E682E}"/>
              </a:ext>
            </a:extLst>
          </p:cNvPr>
          <p:cNvSpPr txBox="1"/>
          <p:nvPr/>
        </p:nvSpPr>
        <p:spPr>
          <a:xfrm>
            <a:off x="8202075" y="3924131"/>
            <a:ext cx="1883849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300" b="1" dirty="0">
                <a:solidFill>
                  <a:schemeClr val="bg1"/>
                </a:solidFill>
              </a:rPr>
              <a:t>제작 </a:t>
            </a:r>
            <a:r>
              <a:rPr lang="en-US" altLang="ko-KR" sz="2300" b="1" dirty="0">
                <a:solidFill>
                  <a:schemeClr val="bg1"/>
                </a:solidFill>
              </a:rPr>
              <a:t>- </a:t>
            </a:r>
            <a:r>
              <a:rPr lang="ko-KR" altLang="en-US" sz="2300" b="1" dirty="0">
                <a:solidFill>
                  <a:schemeClr val="bg1"/>
                </a:solidFill>
              </a:rPr>
              <a:t>김다빈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A0003-D520-6E4A-2F22-53BF86721CBE}"/>
              </a:ext>
            </a:extLst>
          </p:cNvPr>
          <p:cNvSpPr txBox="1"/>
          <p:nvPr/>
        </p:nvSpPr>
        <p:spPr>
          <a:xfrm>
            <a:off x="7877467" y="2750234"/>
            <a:ext cx="25330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LP</a:t>
            </a:r>
            <a:r>
              <a:rPr lang="ko-KR" altLang="en-US" sz="4800" b="1" spc="-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사이트</a:t>
            </a:r>
          </a:p>
        </p:txBody>
      </p:sp>
    </p:spTree>
    <p:extLst>
      <p:ext uri="{BB962C8B-B14F-4D97-AF65-F5344CB8AC3E}">
        <p14:creationId xmlns:p14="http://schemas.microsoft.com/office/powerpoint/2010/main" val="2454410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5365390B-2E04-6195-E454-F73260316E9A}"/>
              </a:ext>
            </a:extLst>
          </p:cNvPr>
          <p:cNvSpPr/>
          <p:nvPr/>
        </p:nvSpPr>
        <p:spPr>
          <a:xfrm>
            <a:off x="-13252" y="417420"/>
            <a:ext cx="7649688" cy="1049766"/>
          </a:xfrm>
          <a:prstGeom prst="rect">
            <a:avLst/>
          </a:prstGeom>
          <a:solidFill>
            <a:srgbClr val="B39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DA14A-BA09-36AF-999E-58C4803034DE}"/>
              </a:ext>
            </a:extLst>
          </p:cNvPr>
          <p:cNvSpPr txBox="1"/>
          <p:nvPr/>
        </p:nvSpPr>
        <p:spPr>
          <a:xfrm>
            <a:off x="900112" y="559889"/>
            <a:ext cx="1415772" cy="830997"/>
          </a:xfrm>
          <a:prstGeom prst="rect">
            <a:avLst/>
          </a:prstGeom>
          <a:noFill/>
          <a:ln>
            <a:solidFill>
              <a:srgbClr val="B39273"/>
            </a:solidFill>
          </a:ln>
        </p:spPr>
        <p:txBody>
          <a:bodyPr wrap="none" rtlCol="0">
            <a:spAutoFit/>
          </a:bodyPr>
          <a:lstStyle/>
          <a:p>
            <a:r>
              <a:rPr lang="ko-Kore-KR" altLang="en-US" sz="4800" b="1" dirty="0">
                <a:solidFill>
                  <a:schemeClr val="bg1"/>
                </a:solidFill>
              </a:rPr>
              <a:t>목차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D36B2C0-5265-2025-C962-38A69E0C213F}"/>
              </a:ext>
            </a:extLst>
          </p:cNvPr>
          <p:cNvGrpSpPr/>
          <p:nvPr/>
        </p:nvGrpSpPr>
        <p:grpSpPr>
          <a:xfrm>
            <a:off x="2114549" y="1958652"/>
            <a:ext cx="3472787" cy="3696133"/>
            <a:chOff x="2114550" y="2386013"/>
            <a:chExt cx="3203733" cy="340977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73434530-ED02-A6C9-6A7E-E993BB912147}"/>
                </a:ext>
              </a:extLst>
            </p:cNvPr>
            <p:cNvGrpSpPr/>
            <p:nvPr/>
          </p:nvGrpSpPr>
          <p:grpSpPr>
            <a:xfrm>
              <a:off x="2114550" y="2386013"/>
              <a:ext cx="457200" cy="475060"/>
              <a:chOff x="2114550" y="2386013"/>
              <a:chExt cx="457200" cy="475060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FE756018-0069-144A-6372-093B6D8F3BA9}"/>
                  </a:ext>
                </a:extLst>
              </p:cNvPr>
              <p:cNvSpPr/>
              <p:nvPr/>
            </p:nvSpPr>
            <p:spPr>
              <a:xfrm>
                <a:off x="2114550" y="2386013"/>
                <a:ext cx="457200" cy="457200"/>
              </a:xfrm>
              <a:prstGeom prst="rect">
                <a:avLst/>
              </a:prstGeom>
              <a:solidFill>
                <a:srgbClr val="B392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C0D748-5E75-91A8-67D8-4141030EA4D9}"/>
                  </a:ext>
                </a:extLst>
              </p:cNvPr>
              <p:cNvSpPr txBox="1"/>
              <p:nvPr/>
            </p:nvSpPr>
            <p:spPr>
              <a:xfrm>
                <a:off x="2114550" y="2399408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ore-KR" sz="2400" b="1" dirty="0">
                    <a:latin typeface="+mj-ea"/>
                    <a:ea typeface="+mj-ea"/>
                  </a:rPr>
                  <a:t>1</a:t>
                </a:r>
                <a:endParaRPr kumimoji="1" lang="ko-Kore-KR" altLang="en-US" b="1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FFEBB5-F7D7-5F1C-3F53-969B1270CA09}"/>
                </a:ext>
              </a:extLst>
            </p:cNvPr>
            <p:cNvSpPr txBox="1"/>
            <p:nvPr/>
          </p:nvSpPr>
          <p:spPr>
            <a:xfrm>
              <a:off x="2969636" y="2417315"/>
              <a:ext cx="2348647" cy="4258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sz="2400" dirty="0"/>
                <a:t>주제</a:t>
              </a:r>
              <a:r>
                <a:rPr kumimoji="1" lang="ko-KR" altLang="en-US" sz="2400" dirty="0"/>
                <a:t> 및 컨셉 선정</a:t>
              </a:r>
              <a:endParaRPr kumimoji="1" lang="ko-Kore-KR" altLang="en-US" sz="2400" dirty="0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16C0B86-0DC7-59CE-AE58-52E2CFE62A79}"/>
                </a:ext>
              </a:extLst>
            </p:cNvPr>
            <p:cNvGrpSpPr/>
            <p:nvPr/>
          </p:nvGrpSpPr>
          <p:grpSpPr>
            <a:xfrm>
              <a:off x="2114550" y="3129548"/>
              <a:ext cx="457200" cy="487285"/>
              <a:chOff x="2114550" y="2386013"/>
              <a:chExt cx="457200" cy="487285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E0183491-BD70-EE77-BCE4-5F948A3A5C11}"/>
                  </a:ext>
                </a:extLst>
              </p:cNvPr>
              <p:cNvSpPr/>
              <p:nvPr/>
            </p:nvSpPr>
            <p:spPr>
              <a:xfrm>
                <a:off x="2114550" y="2386013"/>
                <a:ext cx="457200" cy="457200"/>
              </a:xfrm>
              <a:prstGeom prst="rect">
                <a:avLst/>
              </a:prstGeom>
              <a:solidFill>
                <a:srgbClr val="B392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A2EB13-B8D5-C54E-2343-819488560ED8}"/>
                  </a:ext>
                </a:extLst>
              </p:cNvPr>
              <p:cNvSpPr txBox="1"/>
              <p:nvPr/>
            </p:nvSpPr>
            <p:spPr>
              <a:xfrm>
                <a:off x="2114550" y="2411633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2400" b="1" dirty="0">
                    <a:latin typeface="+mj-ea"/>
                    <a:ea typeface="+mj-ea"/>
                  </a:rPr>
                  <a:t>2</a:t>
                </a:r>
                <a:endParaRPr kumimoji="1" lang="ko-Kore-KR" altLang="en-US" b="1" dirty="0">
                  <a:latin typeface="+mj-ea"/>
                  <a:ea typeface="+mj-ea"/>
                </a:endParaRP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0E02058A-BD69-B9F7-EAD6-9C6EA67D2DDB}"/>
                </a:ext>
              </a:extLst>
            </p:cNvPr>
            <p:cNvGrpSpPr/>
            <p:nvPr/>
          </p:nvGrpSpPr>
          <p:grpSpPr>
            <a:xfrm>
              <a:off x="2114550" y="3868618"/>
              <a:ext cx="457200" cy="478352"/>
              <a:chOff x="2114550" y="2386013"/>
              <a:chExt cx="457200" cy="478352"/>
            </a:xfrm>
          </p:grpSpPr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2F8EDB1C-1673-E753-2E76-DAE2B0666A6B}"/>
                  </a:ext>
                </a:extLst>
              </p:cNvPr>
              <p:cNvSpPr/>
              <p:nvPr/>
            </p:nvSpPr>
            <p:spPr>
              <a:xfrm>
                <a:off x="2114550" y="2386013"/>
                <a:ext cx="457200" cy="457200"/>
              </a:xfrm>
              <a:prstGeom prst="rect">
                <a:avLst/>
              </a:prstGeom>
              <a:solidFill>
                <a:srgbClr val="B392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A0EB4C-5D13-ADB2-BC65-AF9E9AA3134E}"/>
                  </a:ext>
                </a:extLst>
              </p:cNvPr>
              <p:cNvSpPr txBox="1"/>
              <p:nvPr/>
            </p:nvSpPr>
            <p:spPr>
              <a:xfrm>
                <a:off x="2114550" y="2402700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2400" b="1" dirty="0">
                    <a:latin typeface="+mj-ea"/>
                    <a:ea typeface="+mj-ea"/>
                  </a:rPr>
                  <a:t>3</a:t>
                </a:r>
                <a:endParaRPr kumimoji="1" lang="ko-Kore-KR" altLang="en-US" b="1" dirty="0">
                  <a:latin typeface="+mj-ea"/>
                  <a:ea typeface="+mj-ea"/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E8352FC0-1829-D5CF-3D88-AECECE5B7FB0}"/>
                </a:ext>
              </a:extLst>
            </p:cNvPr>
            <p:cNvGrpSpPr/>
            <p:nvPr/>
          </p:nvGrpSpPr>
          <p:grpSpPr>
            <a:xfrm>
              <a:off x="2114550" y="4603223"/>
              <a:ext cx="457200" cy="478354"/>
              <a:chOff x="2114550" y="2386013"/>
              <a:chExt cx="457200" cy="478354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3BCE8DDB-6926-179E-6683-6BDFE3510168}"/>
                  </a:ext>
                </a:extLst>
              </p:cNvPr>
              <p:cNvSpPr/>
              <p:nvPr/>
            </p:nvSpPr>
            <p:spPr>
              <a:xfrm>
                <a:off x="2114550" y="2386013"/>
                <a:ext cx="457200" cy="457200"/>
              </a:xfrm>
              <a:prstGeom prst="rect">
                <a:avLst/>
              </a:prstGeom>
              <a:solidFill>
                <a:srgbClr val="B392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FE2CD69-7AEF-22AA-8169-688A382EEF51}"/>
                  </a:ext>
                </a:extLst>
              </p:cNvPr>
              <p:cNvSpPr txBox="1"/>
              <p:nvPr/>
            </p:nvSpPr>
            <p:spPr>
              <a:xfrm>
                <a:off x="2114550" y="2402702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2400" b="1" dirty="0">
                    <a:latin typeface="+mj-ea"/>
                    <a:ea typeface="+mj-ea"/>
                  </a:rPr>
                  <a:t>4</a:t>
                </a:r>
                <a:endParaRPr kumimoji="1" lang="ko-Kore-KR" altLang="en-US" b="1" dirty="0">
                  <a:latin typeface="+mj-ea"/>
                  <a:ea typeface="+mj-ea"/>
                </a:endParaRP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69A8DFA3-9F58-B793-90AE-B0BE12779441}"/>
                </a:ext>
              </a:extLst>
            </p:cNvPr>
            <p:cNvGrpSpPr/>
            <p:nvPr/>
          </p:nvGrpSpPr>
          <p:grpSpPr>
            <a:xfrm>
              <a:off x="2114550" y="5331190"/>
              <a:ext cx="457200" cy="457200"/>
              <a:chOff x="2114550" y="1658165"/>
              <a:chExt cx="457200" cy="457200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05D66C4C-ED15-7935-B521-EFA53BE2F22A}"/>
                  </a:ext>
                </a:extLst>
              </p:cNvPr>
              <p:cNvSpPr/>
              <p:nvPr/>
            </p:nvSpPr>
            <p:spPr>
              <a:xfrm>
                <a:off x="2114550" y="1658165"/>
                <a:ext cx="457200" cy="457200"/>
              </a:xfrm>
              <a:prstGeom prst="rect">
                <a:avLst/>
              </a:prstGeom>
              <a:solidFill>
                <a:srgbClr val="B392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8E7AD6B-2FF6-BF8C-AB7F-9E2C62D34385}"/>
                  </a:ext>
                </a:extLst>
              </p:cNvPr>
              <p:cNvSpPr txBox="1"/>
              <p:nvPr/>
            </p:nvSpPr>
            <p:spPr>
              <a:xfrm>
                <a:off x="2114550" y="1658165"/>
                <a:ext cx="457200" cy="425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ore-KR" sz="2400" b="1" dirty="0">
                    <a:latin typeface="+mj-ea"/>
                    <a:ea typeface="+mj-ea"/>
                  </a:rPr>
                  <a:t>5</a:t>
                </a:r>
                <a:endParaRPr kumimoji="1" lang="ko-Kore-KR" altLang="en-US" b="1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EAFB9EA-B1F0-F9A3-3E8D-B35900B7A94E}"/>
                </a:ext>
              </a:extLst>
            </p:cNvPr>
            <p:cNvSpPr txBox="1"/>
            <p:nvPr/>
          </p:nvSpPr>
          <p:spPr>
            <a:xfrm>
              <a:off x="2969636" y="3132305"/>
              <a:ext cx="2001127" cy="4258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2400" dirty="0"/>
                <a:t>타 사이트 분석</a:t>
              </a:r>
              <a:endParaRPr kumimoji="1" lang="ko-Kore-KR" altLang="en-US" sz="24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0D0F41A-344C-4315-BA25-3DA90C30B1BE}"/>
                </a:ext>
              </a:extLst>
            </p:cNvPr>
            <p:cNvSpPr txBox="1"/>
            <p:nvPr/>
          </p:nvSpPr>
          <p:spPr>
            <a:xfrm>
              <a:off x="2969636" y="3871375"/>
              <a:ext cx="2001126" cy="4258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sz="2400" dirty="0"/>
                <a:t>정보 구조 설계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FC92D0B-6EEA-99D3-D85A-D9324A3E723B}"/>
                </a:ext>
              </a:extLst>
            </p:cNvPr>
            <p:cNvSpPr txBox="1"/>
            <p:nvPr/>
          </p:nvSpPr>
          <p:spPr>
            <a:xfrm>
              <a:off x="2969635" y="4610445"/>
              <a:ext cx="2001126" cy="4258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sz="2400" dirty="0"/>
                <a:t>화면 구조 설계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8D06DE1-3E5C-54E0-627D-32EE56E404C9}"/>
                </a:ext>
              </a:extLst>
            </p:cNvPr>
            <p:cNvSpPr txBox="1"/>
            <p:nvPr/>
          </p:nvSpPr>
          <p:spPr>
            <a:xfrm>
              <a:off x="2969635" y="5369891"/>
              <a:ext cx="1653606" cy="4258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sz="2400" dirty="0"/>
                <a:t>시안 디자인</a:t>
              </a:r>
            </a:p>
          </p:txBody>
        </p: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83D58F38-1698-A2B1-715D-9E951F293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399" y="1467186"/>
            <a:ext cx="5260063" cy="526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851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053D399-DC09-F1ED-E75B-F1945511F6A3}"/>
              </a:ext>
            </a:extLst>
          </p:cNvPr>
          <p:cNvCxnSpPr>
            <a:cxnSpLocks/>
          </p:cNvCxnSpPr>
          <p:nvPr/>
        </p:nvCxnSpPr>
        <p:spPr>
          <a:xfrm>
            <a:off x="344556" y="950843"/>
            <a:ext cx="11847444" cy="0"/>
          </a:xfrm>
          <a:prstGeom prst="line">
            <a:avLst/>
          </a:prstGeom>
          <a:ln w="19050">
            <a:solidFill>
              <a:srgbClr val="B39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045ECE-8D6C-1599-57DD-5A4C7BEB0402}"/>
              </a:ext>
            </a:extLst>
          </p:cNvPr>
          <p:cNvSpPr txBox="1"/>
          <p:nvPr/>
        </p:nvSpPr>
        <p:spPr>
          <a:xfrm>
            <a:off x="344556" y="195688"/>
            <a:ext cx="3001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rgbClr val="B39273"/>
                </a:solidFill>
              </a:rPr>
              <a:t>주제</a:t>
            </a:r>
            <a:r>
              <a:rPr lang="en-US" altLang="ko-KR" sz="3600" b="1" spc="-300" dirty="0">
                <a:solidFill>
                  <a:srgbClr val="B39273"/>
                </a:solidFill>
              </a:rPr>
              <a:t>,</a:t>
            </a:r>
            <a:r>
              <a:rPr lang="ko-KR" altLang="en-US" sz="3600" b="1" spc="-300" dirty="0">
                <a:solidFill>
                  <a:srgbClr val="B39273"/>
                </a:solidFill>
              </a:rPr>
              <a:t>  컨셉 선정</a:t>
            </a:r>
          </a:p>
        </p:txBody>
      </p:sp>
      <p:sp>
        <p:nvSpPr>
          <p:cNvPr id="8" name="正方形/長方形 1">
            <a:extLst>
              <a:ext uri="{FF2B5EF4-FFF2-40B4-BE49-F238E27FC236}">
                <a16:creationId xmlns:a16="http://schemas.microsoft.com/office/drawing/2014/main" id="{E24B5F73-ED7D-F05C-B6A1-F07C8119FDD9}"/>
              </a:ext>
            </a:extLst>
          </p:cNvPr>
          <p:cNvSpPr/>
          <p:nvPr/>
        </p:nvSpPr>
        <p:spPr>
          <a:xfrm>
            <a:off x="344556" y="6559826"/>
            <a:ext cx="11847443" cy="152400"/>
          </a:xfrm>
          <a:prstGeom prst="rect">
            <a:avLst/>
          </a:prstGeom>
          <a:solidFill>
            <a:srgbClr val="B39273"/>
          </a:solidFill>
          <a:ln>
            <a:solidFill>
              <a:srgbClr val="B392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67AFBCCB-51E3-9132-DF57-5E7B97AC9BC5}"/>
              </a:ext>
            </a:extLst>
          </p:cNvPr>
          <p:cNvGrpSpPr/>
          <p:nvPr/>
        </p:nvGrpSpPr>
        <p:grpSpPr>
          <a:xfrm>
            <a:off x="7182677" y="2416361"/>
            <a:ext cx="4517123" cy="2974634"/>
            <a:chOff x="4001627" y="1957234"/>
            <a:chExt cx="4517123" cy="297463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4A958E-D907-BDDD-B72B-B043909EFF80}"/>
                </a:ext>
              </a:extLst>
            </p:cNvPr>
            <p:cNvSpPr txBox="1"/>
            <p:nvPr/>
          </p:nvSpPr>
          <p:spPr>
            <a:xfrm>
              <a:off x="5567035" y="3199243"/>
              <a:ext cx="13914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ore-KR" sz="2400" b="1" dirty="0"/>
                <a:t>LP</a:t>
              </a:r>
              <a:r>
                <a:rPr kumimoji="1" lang="ko-Kore-KR" altLang="en-US" sz="2400" b="1" dirty="0"/>
                <a:t>사이트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FE84DD6-D196-F5E2-5710-DEF8B63CCB7A}"/>
                </a:ext>
              </a:extLst>
            </p:cNvPr>
            <p:cNvSpPr txBox="1"/>
            <p:nvPr/>
          </p:nvSpPr>
          <p:spPr>
            <a:xfrm>
              <a:off x="7723669" y="3257789"/>
              <a:ext cx="7950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ore-KR" altLang="en-US" sz="1600" dirty="0"/>
                <a:t>정돈된</a:t>
              </a:r>
              <a:endParaRPr kumimoji="1" lang="ko-Kore-KR" altLang="en-US" sz="2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761E2A-AC42-22B6-B9D6-AE2A17652FA6}"/>
                </a:ext>
              </a:extLst>
            </p:cNvPr>
            <p:cNvSpPr txBox="1"/>
            <p:nvPr/>
          </p:nvSpPr>
          <p:spPr>
            <a:xfrm>
              <a:off x="4001627" y="3251791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sz="1600" dirty="0"/>
                <a:t>심플한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287209E-0D3B-C235-A041-C0C1D19CD3F1}"/>
                </a:ext>
              </a:extLst>
            </p:cNvPr>
            <p:cNvSpPr txBox="1"/>
            <p:nvPr/>
          </p:nvSpPr>
          <p:spPr>
            <a:xfrm>
              <a:off x="5862267" y="4593314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sz="1600" dirty="0"/>
                <a:t>안정된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E9CBCC-30AA-7538-B136-6CC293E992E9}"/>
                </a:ext>
              </a:extLst>
            </p:cNvPr>
            <p:cNvSpPr txBox="1"/>
            <p:nvPr/>
          </p:nvSpPr>
          <p:spPr>
            <a:xfrm>
              <a:off x="5862267" y="1957234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sz="1600" dirty="0"/>
                <a:t>수수한</a:t>
              </a:r>
            </a:p>
          </p:txBody>
        </p:sp>
        <p:cxnSp>
          <p:nvCxnSpPr>
            <p:cNvPr id="48" name="직선 연결선[R] 47">
              <a:extLst>
                <a:ext uri="{FF2B5EF4-FFF2-40B4-BE49-F238E27FC236}">
                  <a16:creationId xmlns:a16="http://schemas.microsoft.com/office/drawing/2014/main" id="{A0573997-93BA-4E6D-A3DB-C09FD90104CF}"/>
                </a:ext>
              </a:extLst>
            </p:cNvPr>
            <p:cNvCxnSpPr>
              <a:cxnSpLocks/>
              <a:stCxn id="15" idx="2"/>
              <a:endCxn id="11" idx="0"/>
            </p:cNvCxnSpPr>
            <p:nvPr/>
          </p:nvCxnSpPr>
          <p:spPr>
            <a:xfrm>
              <a:off x="6262377" y="2295788"/>
              <a:ext cx="381" cy="9034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[R] 49">
              <a:extLst>
                <a:ext uri="{FF2B5EF4-FFF2-40B4-BE49-F238E27FC236}">
                  <a16:creationId xmlns:a16="http://schemas.microsoft.com/office/drawing/2014/main" id="{7C3FC9A3-2FCC-FD51-D3BF-06DA83669850}"/>
                </a:ext>
              </a:extLst>
            </p:cNvPr>
            <p:cNvCxnSpPr>
              <a:cxnSpLocks/>
              <a:stCxn id="11" idx="3"/>
              <a:endCxn id="12" idx="1"/>
            </p:cNvCxnSpPr>
            <p:nvPr/>
          </p:nvCxnSpPr>
          <p:spPr>
            <a:xfrm flipV="1">
              <a:off x="6958480" y="3427066"/>
              <a:ext cx="765189" cy="30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[R] 51">
              <a:extLst>
                <a:ext uri="{FF2B5EF4-FFF2-40B4-BE49-F238E27FC236}">
                  <a16:creationId xmlns:a16="http://schemas.microsoft.com/office/drawing/2014/main" id="{490D4413-4D96-A3FE-ED90-135B1ABBCBFA}"/>
                </a:ext>
              </a:extLst>
            </p:cNvPr>
            <p:cNvCxnSpPr>
              <a:cxnSpLocks/>
              <a:stCxn id="11" idx="2"/>
              <a:endCxn id="14" idx="0"/>
            </p:cNvCxnSpPr>
            <p:nvPr/>
          </p:nvCxnSpPr>
          <p:spPr>
            <a:xfrm flipH="1">
              <a:off x="6262377" y="3660908"/>
              <a:ext cx="381" cy="9324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[R] 53">
              <a:extLst>
                <a:ext uri="{FF2B5EF4-FFF2-40B4-BE49-F238E27FC236}">
                  <a16:creationId xmlns:a16="http://schemas.microsoft.com/office/drawing/2014/main" id="{8FA36024-66B1-1A9D-43B6-80BBFF8B61DC}"/>
                </a:ext>
              </a:extLst>
            </p:cNvPr>
            <p:cNvCxnSpPr>
              <a:cxnSpLocks/>
              <a:stCxn id="13" idx="3"/>
              <a:endCxn id="11" idx="1"/>
            </p:cNvCxnSpPr>
            <p:nvPr/>
          </p:nvCxnSpPr>
          <p:spPr>
            <a:xfrm>
              <a:off x="4801846" y="3421068"/>
              <a:ext cx="765189" cy="900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79CB6910-363B-63A8-E368-A7270390FA3C}"/>
              </a:ext>
            </a:extLst>
          </p:cNvPr>
          <p:cNvGrpSpPr/>
          <p:nvPr/>
        </p:nvGrpSpPr>
        <p:grpSpPr>
          <a:xfrm>
            <a:off x="492200" y="1835089"/>
            <a:ext cx="6542307" cy="4065978"/>
            <a:chOff x="692791" y="1863574"/>
            <a:chExt cx="6542307" cy="4065978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68B58ED-52AD-B46E-8ABF-D05CD1DBE887}"/>
                </a:ext>
              </a:extLst>
            </p:cNvPr>
            <p:cNvSpPr txBox="1"/>
            <p:nvPr/>
          </p:nvSpPr>
          <p:spPr>
            <a:xfrm>
              <a:off x="1895378" y="1942428"/>
              <a:ext cx="5074545" cy="15294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ko-KR" altLang="en-US" sz="1600" dirty="0"/>
                <a:t>국내 </a:t>
              </a:r>
              <a:r>
                <a:rPr kumimoji="1" lang="ko-KR" altLang="en-US" sz="1600" dirty="0" err="1"/>
                <a:t>젊은층</a:t>
              </a:r>
              <a:r>
                <a:rPr kumimoji="1" lang="ko-KR" altLang="en-US" sz="1600" dirty="0"/>
                <a:t> 사이에서 </a:t>
              </a:r>
              <a:r>
                <a:rPr kumimoji="1" lang="ko-KR" altLang="en-US" sz="1600" dirty="0" err="1"/>
                <a:t>레트로가</a:t>
              </a:r>
              <a:r>
                <a:rPr kumimoji="1" lang="ko-KR" altLang="en-US" sz="1600" dirty="0"/>
                <a:t> 유행하고 </a:t>
              </a:r>
              <a:endParaRPr kumimoji="1" lang="en-US" altLang="ko-KR" sz="1600" dirty="0"/>
            </a:p>
            <a:p>
              <a:pPr>
                <a:lnSpc>
                  <a:spcPct val="150000"/>
                </a:lnSpc>
              </a:pPr>
              <a:r>
                <a:rPr kumimoji="1" lang="en" altLang="ko-Kore-KR" sz="1600" dirty="0"/>
                <a:t>LP</a:t>
              </a:r>
              <a:r>
                <a:rPr kumimoji="1" lang="ko-KR" altLang="en-US" sz="1600" dirty="0" err="1"/>
                <a:t>를</a:t>
              </a:r>
              <a:r>
                <a:rPr kumimoji="1" lang="ko-KR" altLang="en-US" sz="1600" dirty="0"/>
                <a:t> 수집하는 </a:t>
              </a:r>
              <a:r>
                <a:rPr kumimoji="1" lang="ko-KR" altLang="en-US" sz="1600" dirty="0" err="1"/>
                <a:t>매니아층들이</a:t>
              </a:r>
              <a:r>
                <a:rPr kumimoji="1" lang="ko-KR" altLang="en-US" sz="1600" dirty="0"/>
                <a:t> 늘어나는 </a:t>
              </a:r>
              <a:r>
                <a:rPr kumimoji="1" lang="ko-KR" altLang="en-US" sz="1600" dirty="0" err="1"/>
                <a:t>추세고</a:t>
              </a:r>
              <a:endParaRPr kumimoji="1" lang="ko-KR" altLang="en-US" sz="1600" dirty="0"/>
            </a:p>
            <a:p>
              <a:pPr>
                <a:lnSpc>
                  <a:spcPct val="150000"/>
                </a:lnSpc>
              </a:pPr>
              <a:r>
                <a:rPr kumimoji="1" lang="ko-KR" altLang="en-US" sz="1600" dirty="0"/>
                <a:t>대부분의 </a:t>
              </a:r>
              <a:r>
                <a:rPr kumimoji="1" lang="en-US" altLang="ko-KR" sz="1600" dirty="0"/>
                <a:t>LP</a:t>
              </a:r>
              <a:r>
                <a:rPr kumimoji="1" lang="ko-KR" altLang="en-US" sz="1600" dirty="0"/>
                <a:t>들은 도서</a:t>
              </a:r>
              <a:r>
                <a:rPr kumimoji="1" lang="en-US" altLang="ko-KR" sz="1600" dirty="0"/>
                <a:t>,</a:t>
              </a:r>
              <a:r>
                <a:rPr kumimoji="1" lang="ko-KR" altLang="en-US" sz="1600" dirty="0"/>
                <a:t> 서적 사이트에서 판매하여 </a:t>
              </a:r>
              <a:endParaRPr kumimoji="1" lang="en-US" altLang="ko-KR" sz="1600" dirty="0"/>
            </a:p>
            <a:p>
              <a:pPr>
                <a:lnSpc>
                  <a:spcPct val="150000"/>
                </a:lnSpc>
              </a:pPr>
              <a:r>
                <a:rPr kumimoji="1" lang="en" altLang="ko-Kore-KR" sz="1600" dirty="0"/>
                <a:t>LP</a:t>
              </a:r>
              <a:r>
                <a:rPr kumimoji="1" lang="ko-KR" altLang="en-US" sz="1600" dirty="0" err="1"/>
                <a:t>를</a:t>
              </a:r>
              <a:r>
                <a:rPr kumimoji="1" lang="ko-KR" altLang="en-US" sz="1600" dirty="0"/>
                <a:t> 전문적으로 다루는 사이트를 제작</a:t>
              </a:r>
              <a:endParaRPr kumimoji="1" lang="ko-Kore-KR" altLang="en-US" sz="16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A10DCBA-ECE9-BE93-BF46-83F550442D03}"/>
                </a:ext>
              </a:extLst>
            </p:cNvPr>
            <p:cNvSpPr txBox="1"/>
            <p:nvPr/>
          </p:nvSpPr>
          <p:spPr>
            <a:xfrm>
              <a:off x="1895378" y="3989597"/>
              <a:ext cx="5339720" cy="1939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ko-KR" altLang="en-US" sz="1600" dirty="0"/>
                <a:t>메인 디자인과 상세 페이지 등 시각적으로 편안하게 </a:t>
              </a:r>
              <a:endParaRPr kumimoji="1" lang="en-US" altLang="ko-KR" sz="1600" dirty="0"/>
            </a:p>
            <a:p>
              <a:pPr>
                <a:lnSpc>
                  <a:spcPct val="150000"/>
                </a:lnSpc>
              </a:pPr>
              <a:r>
                <a:rPr kumimoji="1" lang="ko-KR" altLang="en-US" sz="1600" dirty="0"/>
                <a:t>전달하고 다양한 </a:t>
              </a:r>
              <a:r>
                <a:rPr kumimoji="1" lang="en" altLang="ko-Kore-KR" sz="1600" dirty="0"/>
                <a:t>LP </a:t>
              </a:r>
              <a:r>
                <a:rPr kumimoji="1" lang="ko-KR" altLang="en-US" sz="1600" dirty="0"/>
                <a:t>상품과 주변 악세서리 등을 </a:t>
              </a:r>
              <a:endParaRPr kumimoji="1" lang="en-US" altLang="ko-KR" sz="1600" dirty="0"/>
            </a:p>
            <a:p>
              <a:pPr>
                <a:lnSpc>
                  <a:spcPct val="150000"/>
                </a:lnSpc>
              </a:pPr>
              <a:r>
                <a:rPr kumimoji="1" lang="ko-KR" altLang="en-US" sz="1600" dirty="0"/>
                <a:t>배치하여 여러 상품들을 볼 수 있게 제작</a:t>
              </a:r>
              <a:r>
                <a:rPr kumimoji="1" lang="en-US" altLang="ko-KR" sz="1600" dirty="0"/>
                <a:t>,</a:t>
              </a:r>
              <a:endParaRPr kumimoji="1" lang="ko-KR" altLang="en-US" sz="1600" dirty="0"/>
            </a:p>
            <a:p>
              <a:pPr>
                <a:lnSpc>
                  <a:spcPct val="150000"/>
                </a:lnSpc>
              </a:pPr>
              <a:r>
                <a:rPr kumimoji="1" lang="en-US" altLang="ko-KR" sz="1600" dirty="0"/>
                <a:t>LP</a:t>
              </a:r>
              <a:r>
                <a:rPr kumimoji="1" lang="ko-KR" altLang="en-US" sz="1600" dirty="0"/>
                <a:t>에 관심이 많은 다양한 나이대가 </a:t>
              </a:r>
              <a:endParaRPr kumimoji="1" lang="en-US" altLang="ko-KR" sz="1600" dirty="0"/>
            </a:p>
            <a:p>
              <a:pPr>
                <a:lnSpc>
                  <a:spcPct val="150000"/>
                </a:lnSpc>
              </a:pPr>
              <a:r>
                <a:rPr kumimoji="1" lang="ko-KR" altLang="en-US" sz="1600" dirty="0"/>
                <a:t>접근하게 용이하게 제작</a:t>
              </a:r>
              <a:endParaRPr kumimoji="1" lang="ko-Kore-KR" altLang="en-US" sz="1600" dirty="0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701FF52E-27DA-4073-100B-615290321409}"/>
                </a:ext>
              </a:extLst>
            </p:cNvPr>
            <p:cNvSpPr/>
            <p:nvPr/>
          </p:nvSpPr>
          <p:spPr>
            <a:xfrm>
              <a:off x="694693" y="3896587"/>
              <a:ext cx="936505" cy="572300"/>
            </a:xfrm>
            <a:prstGeom prst="rect">
              <a:avLst/>
            </a:prstGeom>
            <a:solidFill>
              <a:srgbClr val="B39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2400" b="1" dirty="0"/>
                <a:t>목적</a:t>
              </a:r>
              <a:endParaRPr lang="ko-KR" altLang="en-US" sz="1400" b="1" dirty="0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BC3DFBA1-67AA-D22C-421C-AB535BD76B4A}"/>
                </a:ext>
              </a:extLst>
            </p:cNvPr>
            <p:cNvSpPr/>
            <p:nvPr/>
          </p:nvSpPr>
          <p:spPr>
            <a:xfrm>
              <a:off x="692791" y="1863574"/>
              <a:ext cx="936505" cy="572300"/>
            </a:xfrm>
            <a:prstGeom prst="rect">
              <a:avLst/>
            </a:prstGeom>
            <a:solidFill>
              <a:srgbClr val="B39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2400" b="1" dirty="0"/>
                <a:t>주제</a:t>
              </a:r>
              <a:endParaRPr lang="ko-KR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71830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053D399-DC09-F1ED-E75B-F1945511F6A3}"/>
              </a:ext>
            </a:extLst>
          </p:cNvPr>
          <p:cNvCxnSpPr>
            <a:cxnSpLocks/>
          </p:cNvCxnSpPr>
          <p:nvPr/>
        </p:nvCxnSpPr>
        <p:spPr>
          <a:xfrm>
            <a:off x="344556" y="950843"/>
            <a:ext cx="11847444" cy="0"/>
          </a:xfrm>
          <a:prstGeom prst="line">
            <a:avLst/>
          </a:prstGeom>
          <a:ln w="19050">
            <a:solidFill>
              <a:srgbClr val="B39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045ECE-8D6C-1599-57DD-5A4C7BEB0402}"/>
              </a:ext>
            </a:extLst>
          </p:cNvPr>
          <p:cNvSpPr txBox="1"/>
          <p:nvPr/>
        </p:nvSpPr>
        <p:spPr>
          <a:xfrm>
            <a:off x="344556" y="195688"/>
            <a:ext cx="2855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rgbClr val="B39273"/>
                </a:solidFill>
              </a:rPr>
              <a:t>타 사이트 분석</a:t>
            </a:r>
          </a:p>
        </p:txBody>
      </p:sp>
      <p:sp>
        <p:nvSpPr>
          <p:cNvPr id="8" name="正方形/長方形 1">
            <a:extLst>
              <a:ext uri="{FF2B5EF4-FFF2-40B4-BE49-F238E27FC236}">
                <a16:creationId xmlns:a16="http://schemas.microsoft.com/office/drawing/2014/main" id="{E24B5F73-ED7D-F05C-B6A1-F07C8119FDD9}"/>
              </a:ext>
            </a:extLst>
          </p:cNvPr>
          <p:cNvSpPr/>
          <p:nvPr/>
        </p:nvSpPr>
        <p:spPr>
          <a:xfrm>
            <a:off x="344556" y="6559826"/>
            <a:ext cx="11847443" cy="152400"/>
          </a:xfrm>
          <a:prstGeom prst="rect">
            <a:avLst/>
          </a:prstGeom>
          <a:solidFill>
            <a:srgbClr val="B39273"/>
          </a:solidFill>
          <a:ln>
            <a:solidFill>
              <a:srgbClr val="B392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0359B19-93A4-094F-FADE-72D4085D9CDF}"/>
              </a:ext>
            </a:extLst>
          </p:cNvPr>
          <p:cNvGrpSpPr/>
          <p:nvPr/>
        </p:nvGrpSpPr>
        <p:grpSpPr>
          <a:xfrm>
            <a:off x="1617899" y="1272951"/>
            <a:ext cx="8956202" cy="3832566"/>
            <a:chOff x="1562376" y="1157687"/>
            <a:chExt cx="8956202" cy="383256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F89387B-9834-FA4D-7366-298F7506B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2376" y="1157687"/>
              <a:ext cx="1221005" cy="122100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4D95820-DFEF-4023-BF49-3FAAD090C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5799" y="1157687"/>
              <a:ext cx="2300201" cy="3421417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9416FEE-72A9-B6B3-66A5-522D0EFD9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81937" y="1157687"/>
              <a:ext cx="2229699" cy="3446361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45A73538-B6EE-FC7C-5FDA-A8770296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97573" y="1157688"/>
              <a:ext cx="1221005" cy="3421416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E18E694-7AA5-8205-3E7D-ED2A5290D1F4}"/>
                </a:ext>
              </a:extLst>
            </p:cNvPr>
            <p:cNvSpPr txBox="1"/>
            <p:nvPr/>
          </p:nvSpPr>
          <p:spPr>
            <a:xfrm>
              <a:off x="4468845" y="4715115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sz="1050" dirty="0"/>
                <a:t>메인페이지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5E2537-FA7E-9437-9EAA-7954CE3C7729}"/>
                </a:ext>
              </a:extLst>
            </p:cNvPr>
            <p:cNvSpPr txBox="1"/>
            <p:nvPr/>
          </p:nvSpPr>
          <p:spPr>
            <a:xfrm>
              <a:off x="7376874" y="4715115"/>
              <a:ext cx="102303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sz="1050" dirty="0"/>
                <a:t>리스트</a:t>
              </a:r>
              <a:r>
                <a:rPr kumimoji="1" lang="ko-KR" altLang="en-US" sz="1050" dirty="0"/>
                <a:t> 페이지</a:t>
              </a:r>
              <a:endParaRPr kumimoji="1" lang="ko-Kore-KR" altLang="en-US" sz="105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A376DFC-8C29-77DC-A891-1219895D5307}"/>
                </a:ext>
              </a:extLst>
            </p:cNvPr>
            <p:cNvSpPr txBox="1"/>
            <p:nvPr/>
          </p:nvSpPr>
          <p:spPr>
            <a:xfrm>
              <a:off x="9463882" y="4736337"/>
              <a:ext cx="88838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050" dirty="0" err="1"/>
                <a:t>상페</a:t>
              </a:r>
              <a:r>
                <a:rPr kumimoji="1" lang="ko-KR" altLang="en-US" sz="1050" dirty="0"/>
                <a:t> 페이지</a:t>
              </a:r>
              <a:endParaRPr kumimoji="1" lang="ko-Kore-KR" altLang="en-US" sz="1050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6FA9EA8-55C3-4DCF-5448-3D45720A2CF9}"/>
              </a:ext>
            </a:extLst>
          </p:cNvPr>
          <p:cNvGrpSpPr/>
          <p:nvPr/>
        </p:nvGrpSpPr>
        <p:grpSpPr>
          <a:xfrm>
            <a:off x="2195604" y="5139581"/>
            <a:ext cx="8772665" cy="1293624"/>
            <a:chOff x="1766236" y="5139567"/>
            <a:chExt cx="8772665" cy="129362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A618836-BFD2-0715-1608-1C37A6F52C89}"/>
                </a:ext>
              </a:extLst>
            </p:cNvPr>
            <p:cNvSpPr txBox="1"/>
            <p:nvPr/>
          </p:nvSpPr>
          <p:spPr>
            <a:xfrm>
              <a:off x="2000986" y="5139567"/>
              <a:ext cx="8537915" cy="12936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ko-KR" altLang="en-US" dirty="0"/>
                <a:t>도서</a:t>
              </a:r>
              <a:r>
                <a:rPr kumimoji="1" lang="en-US" altLang="ko-KR" dirty="0"/>
                <a:t>, </a:t>
              </a:r>
              <a:r>
                <a:rPr kumimoji="1" lang="ko-KR" altLang="en-US" dirty="0"/>
                <a:t>음반 등 도서 전문 사이트로 제작 되어 </a:t>
              </a:r>
              <a:r>
                <a:rPr kumimoji="1" lang="en" altLang="ko-Kore-KR" dirty="0"/>
                <a:t>LP </a:t>
              </a:r>
              <a:r>
                <a:rPr kumimoji="1" lang="ko-KR" altLang="en-US" dirty="0"/>
                <a:t>카테고리로 있어서 번거로움이 있음</a:t>
              </a:r>
              <a:r>
                <a:rPr kumimoji="1" lang="en-US" altLang="ko-KR" dirty="0"/>
                <a:t>.</a:t>
              </a:r>
            </a:p>
            <a:p>
              <a:pPr>
                <a:lnSpc>
                  <a:spcPct val="150000"/>
                </a:lnSpc>
              </a:pPr>
              <a:r>
                <a:rPr kumimoji="1" lang="ko-KR" altLang="en-US" dirty="0"/>
                <a:t>사이트 전체적으로 폰트와 썸네일 이미지가 작아 시각적으로 편하지 않음</a:t>
              </a:r>
              <a:r>
                <a:rPr kumimoji="1" lang="en-US" altLang="ko-KR" dirty="0"/>
                <a:t>.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ko-KR" dirty="0"/>
                <a:t>LP</a:t>
              </a:r>
              <a:r>
                <a:rPr kumimoji="1" lang="ko-KR" altLang="en-US" dirty="0"/>
                <a:t>에 관한 이벤트나 컨텐츠</a:t>
              </a:r>
              <a:r>
                <a:rPr kumimoji="1" lang="en-US" altLang="ko-KR" dirty="0"/>
                <a:t>, </a:t>
              </a:r>
              <a:r>
                <a:rPr kumimoji="1" lang="ko-KR" altLang="en-US" dirty="0"/>
                <a:t>배너가 없어서 다양함이 부족한 느낌</a:t>
              </a:r>
              <a:r>
                <a:rPr kumimoji="1" lang="en-US" altLang="ko-KR" dirty="0"/>
                <a:t>.</a:t>
              </a:r>
              <a:endParaRPr kumimoji="1" lang="ko-Kore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23EAD1C-4C6D-81BE-D619-CDFA641B1B0E}"/>
                </a:ext>
              </a:extLst>
            </p:cNvPr>
            <p:cNvSpPr/>
            <p:nvPr/>
          </p:nvSpPr>
          <p:spPr>
            <a:xfrm>
              <a:off x="1766236" y="5356951"/>
              <a:ext cx="96107" cy="96107"/>
            </a:xfrm>
            <a:prstGeom prst="rect">
              <a:avLst/>
            </a:prstGeom>
            <a:solidFill>
              <a:srgbClr val="B39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B6ADC6D7-4CD0-7F1C-3707-A8D28A2256FB}"/>
                </a:ext>
              </a:extLst>
            </p:cNvPr>
            <p:cNvSpPr/>
            <p:nvPr/>
          </p:nvSpPr>
          <p:spPr>
            <a:xfrm>
              <a:off x="1766237" y="5753900"/>
              <a:ext cx="96107" cy="96107"/>
            </a:xfrm>
            <a:prstGeom prst="rect">
              <a:avLst/>
            </a:prstGeom>
            <a:solidFill>
              <a:srgbClr val="B39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B60CDE2-094C-A7C5-4617-D18437D453DB}"/>
                </a:ext>
              </a:extLst>
            </p:cNvPr>
            <p:cNvSpPr/>
            <p:nvPr/>
          </p:nvSpPr>
          <p:spPr>
            <a:xfrm>
              <a:off x="1766237" y="6172114"/>
              <a:ext cx="96107" cy="96107"/>
            </a:xfrm>
            <a:prstGeom prst="rect">
              <a:avLst/>
            </a:prstGeom>
            <a:solidFill>
              <a:srgbClr val="B39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42262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053D399-DC09-F1ED-E75B-F1945511F6A3}"/>
              </a:ext>
            </a:extLst>
          </p:cNvPr>
          <p:cNvCxnSpPr>
            <a:cxnSpLocks/>
          </p:cNvCxnSpPr>
          <p:nvPr/>
        </p:nvCxnSpPr>
        <p:spPr>
          <a:xfrm>
            <a:off x="344556" y="950843"/>
            <a:ext cx="11847444" cy="0"/>
          </a:xfrm>
          <a:prstGeom prst="line">
            <a:avLst/>
          </a:prstGeom>
          <a:ln w="19050">
            <a:solidFill>
              <a:srgbClr val="B39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045ECE-8D6C-1599-57DD-5A4C7BEB0402}"/>
              </a:ext>
            </a:extLst>
          </p:cNvPr>
          <p:cNvSpPr txBox="1"/>
          <p:nvPr/>
        </p:nvSpPr>
        <p:spPr>
          <a:xfrm>
            <a:off x="344556" y="195688"/>
            <a:ext cx="2855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rgbClr val="B39273"/>
                </a:solidFill>
              </a:rPr>
              <a:t>타 사이트 분석</a:t>
            </a:r>
          </a:p>
        </p:txBody>
      </p:sp>
      <p:sp>
        <p:nvSpPr>
          <p:cNvPr id="8" name="正方形/長方形 1">
            <a:extLst>
              <a:ext uri="{FF2B5EF4-FFF2-40B4-BE49-F238E27FC236}">
                <a16:creationId xmlns:a16="http://schemas.microsoft.com/office/drawing/2014/main" id="{E24B5F73-ED7D-F05C-B6A1-F07C8119FDD9}"/>
              </a:ext>
            </a:extLst>
          </p:cNvPr>
          <p:cNvSpPr/>
          <p:nvPr/>
        </p:nvSpPr>
        <p:spPr>
          <a:xfrm>
            <a:off x="344556" y="6559826"/>
            <a:ext cx="11847443" cy="152400"/>
          </a:xfrm>
          <a:prstGeom prst="rect">
            <a:avLst/>
          </a:prstGeom>
          <a:solidFill>
            <a:srgbClr val="B39273"/>
          </a:solidFill>
          <a:ln>
            <a:solidFill>
              <a:srgbClr val="B392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E80D9A8-C896-55B3-0B74-6ACAE93529D6}"/>
              </a:ext>
            </a:extLst>
          </p:cNvPr>
          <p:cNvGrpSpPr/>
          <p:nvPr/>
        </p:nvGrpSpPr>
        <p:grpSpPr>
          <a:xfrm>
            <a:off x="1269574" y="1174621"/>
            <a:ext cx="9652851" cy="3857821"/>
            <a:chOff x="1255469" y="1242508"/>
            <a:chExt cx="9652851" cy="385782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AF9A5C1-9E01-8EEE-1CCB-B7BCB7F5B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5469" y="1329480"/>
              <a:ext cx="1221005" cy="964783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6EEB857-46D4-5438-D919-918027527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3411" y="1254612"/>
              <a:ext cx="1839366" cy="344636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407F072-67B4-D9D6-EB62-8A6FC72CE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20707" y="1242508"/>
              <a:ext cx="987613" cy="3450243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5BB7771B-462D-577B-57F9-31FE32FF2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57477" y="1254612"/>
              <a:ext cx="1330107" cy="3446739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DF7EE987-44BB-A277-9C2B-F0881D1CB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58523" y="1242508"/>
              <a:ext cx="2057484" cy="342679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25C65F-7BEC-B48F-2DD4-3737D86533C0}"/>
                </a:ext>
              </a:extLst>
            </p:cNvPr>
            <p:cNvSpPr txBox="1"/>
            <p:nvPr/>
          </p:nvSpPr>
          <p:spPr>
            <a:xfrm>
              <a:off x="3605381" y="4838719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sz="1050" dirty="0"/>
                <a:t>메인</a:t>
              </a:r>
              <a:r>
                <a:rPr kumimoji="1" lang="ko-KR" altLang="en-US" sz="1050" dirty="0"/>
                <a:t> </a:t>
              </a:r>
              <a:r>
                <a:rPr kumimoji="1" lang="ko-Kore-KR" altLang="en-US" sz="1050" dirty="0"/>
                <a:t>페이지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33A8EC1-7696-78DF-D514-0C0C468F89A0}"/>
                </a:ext>
              </a:extLst>
            </p:cNvPr>
            <p:cNvSpPr txBox="1"/>
            <p:nvPr/>
          </p:nvSpPr>
          <p:spPr>
            <a:xfrm>
              <a:off x="7966729" y="4838719"/>
              <a:ext cx="102303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sz="1050" dirty="0"/>
                <a:t>리스트</a:t>
              </a:r>
              <a:r>
                <a:rPr kumimoji="1" lang="ko-KR" altLang="en-US" sz="1050" dirty="0"/>
                <a:t> 페이지</a:t>
              </a:r>
              <a:endParaRPr kumimoji="1" lang="ko-Kore-KR" altLang="en-US" sz="105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0DB299F-A293-6DBE-CD23-C9A527EE702F}"/>
                </a:ext>
              </a:extLst>
            </p:cNvPr>
            <p:cNvSpPr txBox="1"/>
            <p:nvPr/>
          </p:nvSpPr>
          <p:spPr>
            <a:xfrm>
              <a:off x="9920707" y="4834687"/>
              <a:ext cx="88838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050" dirty="0"/>
                <a:t>상세 페이지</a:t>
              </a:r>
              <a:endParaRPr kumimoji="1" lang="ko-Kore-KR" altLang="en-US" sz="105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10F256-8AC3-75D2-6619-383D7DAEA413}"/>
                </a:ext>
              </a:extLst>
            </p:cNvPr>
            <p:cNvSpPr txBox="1"/>
            <p:nvPr/>
          </p:nvSpPr>
          <p:spPr>
            <a:xfrm>
              <a:off x="5778337" y="4842566"/>
              <a:ext cx="88838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sz="1050" dirty="0"/>
                <a:t>서브</a:t>
              </a:r>
              <a:r>
                <a:rPr kumimoji="1" lang="ko-KR" altLang="en-US" sz="1050" dirty="0"/>
                <a:t> 페이지</a:t>
              </a:r>
              <a:endParaRPr kumimoji="1" lang="ko-Kore-KR" altLang="en-US" sz="1050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E8DEF4C-BD13-E5B5-3FAD-FF84E32CD6E5}"/>
              </a:ext>
            </a:extLst>
          </p:cNvPr>
          <p:cNvGrpSpPr/>
          <p:nvPr/>
        </p:nvGrpSpPr>
        <p:grpSpPr>
          <a:xfrm>
            <a:off x="2824777" y="5171539"/>
            <a:ext cx="7683890" cy="1293624"/>
            <a:chOff x="2911223" y="5151272"/>
            <a:chExt cx="8063635" cy="129362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9FF4231-A65A-B8EA-72AB-3562F21C8768}"/>
                </a:ext>
              </a:extLst>
            </p:cNvPr>
            <p:cNvSpPr txBox="1"/>
            <p:nvPr/>
          </p:nvSpPr>
          <p:spPr>
            <a:xfrm>
              <a:off x="3113411" y="5151272"/>
              <a:ext cx="7861447" cy="12936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ko-KR" altLang="en-US" dirty="0"/>
                <a:t>알라딘과 같은 도서 전문 사이트다</a:t>
              </a:r>
              <a:r>
                <a:rPr kumimoji="1" lang="en-US" altLang="ko-KR" dirty="0"/>
                <a:t>. CD/LP</a:t>
              </a:r>
              <a:r>
                <a:rPr kumimoji="1" lang="ko-KR" altLang="en-US" dirty="0"/>
                <a:t>로 분류 되어 보기 용이하지 않음</a:t>
              </a:r>
              <a:r>
                <a:rPr kumimoji="1" lang="en-US" altLang="ko-KR" dirty="0"/>
                <a:t>.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ko-KR" dirty="0"/>
                <a:t>MD</a:t>
              </a:r>
              <a:r>
                <a:rPr kumimoji="1" lang="ko-KR" altLang="en-US" dirty="0"/>
                <a:t>의 선택</a:t>
              </a:r>
              <a:r>
                <a:rPr kumimoji="1" lang="en-US" altLang="ko-KR" dirty="0"/>
                <a:t>, </a:t>
              </a:r>
              <a:r>
                <a:rPr kumimoji="1" lang="ko-KR" altLang="en-US" dirty="0"/>
                <a:t>베스트 순위</a:t>
              </a:r>
              <a:r>
                <a:rPr kumimoji="1" lang="en-US" altLang="ko-KR" dirty="0"/>
                <a:t>, </a:t>
              </a:r>
              <a:r>
                <a:rPr kumimoji="1" lang="ko-KR" altLang="en-US" dirty="0"/>
                <a:t>예약판매 등 </a:t>
              </a:r>
              <a:r>
                <a:rPr kumimoji="1" lang="ko-KR" altLang="en-US" dirty="0" err="1"/>
                <a:t>메인에</a:t>
              </a:r>
              <a:r>
                <a:rPr kumimoji="1" lang="ko-KR" altLang="en-US" dirty="0"/>
                <a:t> 분류가 잘 되어 있음</a:t>
              </a:r>
              <a:r>
                <a:rPr kumimoji="1" lang="en-US" altLang="ko-KR" dirty="0"/>
                <a:t>.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ko-KR" dirty="0"/>
                <a:t>LP</a:t>
              </a:r>
              <a:r>
                <a:rPr kumimoji="1" lang="ko-KR" altLang="en-US" dirty="0"/>
                <a:t>메뉴 부분이 상단 부분에 배치 되고 펼쳐 봐야하는 불편함이 있음</a:t>
              </a:r>
              <a:r>
                <a:rPr kumimoji="1" lang="en-US" altLang="ko-KR" dirty="0"/>
                <a:t>.</a:t>
              </a:r>
              <a:endParaRPr kumimoji="1" lang="ko-Kore-KR" altLang="en-US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756DA19-D7A4-D9D5-A164-9760E6AEA8D1}"/>
                </a:ext>
              </a:extLst>
            </p:cNvPr>
            <p:cNvSpPr/>
            <p:nvPr/>
          </p:nvSpPr>
          <p:spPr>
            <a:xfrm>
              <a:off x="2911223" y="5356951"/>
              <a:ext cx="96107" cy="96107"/>
            </a:xfrm>
            <a:prstGeom prst="rect">
              <a:avLst/>
            </a:prstGeom>
            <a:solidFill>
              <a:srgbClr val="B39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8EB658D-22C6-7B3E-4943-BB445064E60A}"/>
                </a:ext>
              </a:extLst>
            </p:cNvPr>
            <p:cNvSpPr/>
            <p:nvPr/>
          </p:nvSpPr>
          <p:spPr>
            <a:xfrm>
              <a:off x="2911224" y="5753900"/>
              <a:ext cx="96107" cy="96107"/>
            </a:xfrm>
            <a:prstGeom prst="rect">
              <a:avLst/>
            </a:prstGeom>
            <a:solidFill>
              <a:srgbClr val="B39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AC409DF-0760-F128-205D-4E3278A6AA01}"/>
                </a:ext>
              </a:extLst>
            </p:cNvPr>
            <p:cNvSpPr/>
            <p:nvPr/>
          </p:nvSpPr>
          <p:spPr>
            <a:xfrm>
              <a:off x="2911224" y="6172114"/>
              <a:ext cx="96107" cy="96107"/>
            </a:xfrm>
            <a:prstGeom prst="rect">
              <a:avLst/>
            </a:prstGeom>
            <a:solidFill>
              <a:srgbClr val="B39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8291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053D399-DC09-F1ED-E75B-F1945511F6A3}"/>
              </a:ext>
            </a:extLst>
          </p:cNvPr>
          <p:cNvCxnSpPr>
            <a:cxnSpLocks/>
          </p:cNvCxnSpPr>
          <p:nvPr/>
        </p:nvCxnSpPr>
        <p:spPr>
          <a:xfrm>
            <a:off x="344556" y="950843"/>
            <a:ext cx="11847444" cy="0"/>
          </a:xfrm>
          <a:prstGeom prst="line">
            <a:avLst/>
          </a:prstGeom>
          <a:ln w="19050">
            <a:solidFill>
              <a:srgbClr val="B39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045ECE-8D6C-1599-57DD-5A4C7BEB0402}"/>
              </a:ext>
            </a:extLst>
          </p:cNvPr>
          <p:cNvSpPr txBox="1"/>
          <p:nvPr/>
        </p:nvSpPr>
        <p:spPr>
          <a:xfrm>
            <a:off x="344556" y="195688"/>
            <a:ext cx="2855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rgbClr val="B39273"/>
                </a:solidFill>
              </a:rPr>
              <a:t>타 사이트 분석</a:t>
            </a:r>
          </a:p>
        </p:txBody>
      </p:sp>
      <p:sp>
        <p:nvSpPr>
          <p:cNvPr id="8" name="正方形/長方形 1">
            <a:extLst>
              <a:ext uri="{FF2B5EF4-FFF2-40B4-BE49-F238E27FC236}">
                <a16:creationId xmlns:a16="http://schemas.microsoft.com/office/drawing/2014/main" id="{E24B5F73-ED7D-F05C-B6A1-F07C8119FDD9}"/>
              </a:ext>
            </a:extLst>
          </p:cNvPr>
          <p:cNvSpPr/>
          <p:nvPr/>
        </p:nvSpPr>
        <p:spPr>
          <a:xfrm>
            <a:off x="344556" y="6559826"/>
            <a:ext cx="11847443" cy="152400"/>
          </a:xfrm>
          <a:prstGeom prst="rect">
            <a:avLst/>
          </a:prstGeom>
          <a:solidFill>
            <a:srgbClr val="B39273"/>
          </a:solidFill>
          <a:ln>
            <a:solidFill>
              <a:srgbClr val="B392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B2B817F-A684-D80B-4824-6DFE45924AB0}"/>
              </a:ext>
            </a:extLst>
          </p:cNvPr>
          <p:cNvGrpSpPr/>
          <p:nvPr/>
        </p:nvGrpSpPr>
        <p:grpSpPr>
          <a:xfrm>
            <a:off x="1466662" y="1187660"/>
            <a:ext cx="8709654" cy="3845339"/>
            <a:chOff x="1052325" y="1187688"/>
            <a:chExt cx="8709654" cy="384533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EBC68A-4DCE-FB37-A9B0-51671731D31A}"/>
                </a:ext>
              </a:extLst>
            </p:cNvPr>
            <p:cNvSpPr txBox="1"/>
            <p:nvPr/>
          </p:nvSpPr>
          <p:spPr>
            <a:xfrm>
              <a:off x="4377594" y="4771417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sz="1050" dirty="0"/>
                <a:t>메인</a:t>
              </a:r>
              <a:r>
                <a:rPr kumimoji="1" lang="ko-KR" altLang="en-US" sz="1050" dirty="0"/>
                <a:t> </a:t>
              </a:r>
              <a:r>
                <a:rPr kumimoji="1" lang="ko-Kore-KR" altLang="en-US" sz="1050" dirty="0"/>
                <a:t>페이지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021F05C-79D7-D4C7-7808-EA4DEA786809}"/>
                </a:ext>
              </a:extLst>
            </p:cNvPr>
            <p:cNvSpPr txBox="1"/>
            <p:nvPr/>
          </p:nvSpPr>
          <p:spPr>
            <a:xfrm>
              <a:off x="8738942" y="4771417"/>
              <a:ext cx="88838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sz="1050" dirty="0"/>
                <a:t>상세</a:t>
              </a:r>
              <a:r>
                <a:rPr kumimoji="1" lang="ko-KR" altLang="en-US" sz="1050" dirty="0"/>
                <a:t> </a:t>
              </a:r>
              <a:r>
                <a:rPr kumimoji="1" lang="ko-Kore-KR" altLang="en-US" sz="1050" dirty="0"/>
                <a:t>페이지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22E9B08-B5B9-E9BA-F7E3-2A780C72ECD0}"/>
                </a:ext>
              </a:extLst>
            </p:cNvPr>
            <p:cNvSpPr txBox="1"/>
            <p:nvPr/>
          </p:nvSpPr>
          <p:spPr>
            <a:xfrm>
              <a:off x="6550550" y="4775264"/>
              <a:ext cx="88838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ore-KR" altLang="en-US" sz="1050" dirty="0"/>
                <a:t>서브</a:t>
              </a:r>
              <a:r>
                <a:rPr kumimoji="1" lang="ko-KR" altLang="en-US" sz="1050" dirty="0"/>
                <a:t> 페이지</a:t>
              </a:r>
              <a:endParaRPr kumimoji="1" lang="ko-Kore-KR" altLang="en-US" sz="1050" dirty="0"/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D5B8B86-9801-6406-46AB-3714E4557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2325" y="1589374"/>
              <a:ext cx="2540000" cy="292100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55DC2E42-C01E-D17D-E023-0DF72F1BA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22003" y="1187688"/>
              <a:ext cx="1293493" cy="3446361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D4683F5-08F7-DD16-F3E9-EA2B7581C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1645" y="1197577"/>
              <a:ext cx="1216036" cy="3446361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742F60A4-BEA7-6B40-148E-48F169056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04954" y="1197577"/>
              <a:ext cx="1157025" cy="3446361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F554431-6321-72CE-047B-5C7D00EC238B}"/>
              </a:ext>
            </a:extLst>
          </p:cNvPr>
          <p:cNvGrpSpPr/>
          <p:nvPr/>
        </p:nvGrpSpPr>
        <p:grpSpPr>
          <a:xfrm>
            <a:off x="2470132" y="5100227"/>
            <a:ext cx="8721321" cy="1293624"/>
            <a:chOff x="2275516" y="5122733"/>
            <a:chExt cx="8721321" cy="129362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FB4132-5A7A-EF8B-41FF-85088F882BCE}"/>
                </a:ext>
              </a:extLst>
            </p:cNvPr>
            <p:cNvSpPr txBox="1"/>
            <p:nvPr/>
          </p:nvSpPr>
          <p:spPr>
            <a:xfrm>
              <a:off x="2497394" y="5122733"/>
              <a:ext cx="8499443" cy="12936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ko-KR" altLang="en-US" dirty="0"/>
                <a:t>사이트의 메인 컬러가 검정과 흰색</a:t>
              </a:r>
              <a:r>
                <a:rPr kumimoji="1" lang="en-US" altLang="ko-KR" dirty="0"/>
                <a:t>, </a:t>
              </a:r>
              <a:r>
                <a:rPr kumimoji="1" lang="ko-KR" altLang="en-US" dirty="0"/>
                <a:t>회색으로 되어 있어서 썸네일이 돋보임</a:t>
              </a:r>
              <a:r>
                <a:rPr kumimoji="1" lang="en-US" altLang="ko-KR" dirty="0"/>
                <a:t>.</a:t>
              </a:r>
            </a:p>
            <a:p>
              <a:pPr>
                <a:lnSpc>
                  <a:spcPct val="150000"/>
                </a:lnSpc>
              </a:pPr>
              <a:r>
                <a:rPr kumimoji="1" lang="ko-KR" altLang="en-US" dirty="0"/>
                <a:t>메인 슬라이드에 예약상품</a:t>
              </a:r>
              <a:r>
                <a:rPr kumimoji="1" lang="en-US" altLang="ko-KR" dirty="0"/>
                <a:t>, </a:t>
              </a:r>
              <a:r>
                <a:rPr kumimoji="1" lang="ko-KR" altLang="en-US" dirty="0" err="1"/>
                <a:t>굿즈</a:t>
              </a:r>
              <a:r>
                <a:rPr kumimoji="1" lang="ko-KR" altLang="en-US" dirty="0"/>
                <a:t> 이벤트 등 폰트나 이미지 크기가 커서 보기 편함</a:t>
              </a:r>
              <a:r>
                <a:rPr kumimoji="1" lang="en-US" altLang="ko-KR" dirty="0"/>
                <a:t>.</a:t>
              </a:r>
            </a:p>
            <a:p>
              <a:pPr>
                <a:lnSpc>
                  <a:spcPct val="150000"/>
                </a:lnSpc>
              </a:pPr>
              <a:r>
                <a:rPr kumimoji="1" lang="ko-KR" altLang="en-US" dirty="0"/>
                <a:t>음반사 사이트지만 </a:t>
              </a:r>
              <a:r>
                <a:rPr kumimoji="1" lang="en-US" altLang="ko-KR" dirty="0"/>
                <a:t>LP</a:t>
              </a:r>
              <a:r>
                <a:rPr kumimoji="1" lang="ko-KR" altLang="en-US" dirty="0"/>
                <a:t>보다는 </a:t>
              </a:r>
              <a:r>
                <a:rPr kumimoji="1" lang="en-US" altLang="ko-KR" dirty="0"/>
                <a:t>CD</a:t>
              </a:r>
              <a:r>
                <a:rPr kumimoji="1" lang="ko-KR" altLang="en-US" dirty="0"/>
                <a:t>앨범을 중점으로 이루어짐</a:t>
              </a:r>
              <a:r>
                <a:rPr kumimoji="1" lang="en-US" altLang="ko-KR" dirty="0"/>
                <a:t>.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241F716-32D1-5B23-688D-1D32AB3BE560}"/>
                </a:ext>
              </a:extLst>
            </p:cNvPr>
            <p:cNvSpPr/>
            <p:nvPr/>
          </p:nvSpPr>
          <p:spPr>
            <a:xfrm>
              <a:off x="2275516" y="5356951"/>
              <a:ext cx="96107" cy="96107"/>
            </a:xfrm>
            <a:prstGeom prst="rect">
              <a:avLst/>
            </a:prstGeom>
            <a:solidFill>
              <a:srgbClr val="B39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5A9E42F1-F4F2-EEE7-98D4-14BEBB1FE4B3}"/>
                </a:ext>
              </a:extLst>
            </p:cNvPr>
            <p:cNvSpPr/>
            <p:nvPr/>
          </p:nvSpPr>
          <p:spPr>
            <a:xfrm>
              <a:off x="2275517" y="5753900"/>
              <a:ext cx="96107" cy="96107"/>
            </a:xfrm>
            <a:prstGeom prst="rect">
              <a:avLst/>
            </a:prstGeom>
            <a:solidFill>
              <a:srgbClr val="B39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0605FA5-2E82-6DD6-239F-6F70B9CD6553}"/>
                </a:ext>
              </a:extLst>
            </p:cNvPr>
            <p:cNvSpPr/>
            <p:nvPr/>
          </p:nvSpPr>
          <p:spPr>
            <a:xfrm>
              <a:off x="2275517" y="6172114"/>
              <a:ext cx="96107" cy="96107"/>
            </a:xfrm>
            <a:prstGeom prst="rect">
              <a:avLst/>
            </a:prstGeom>
            <a:solidFill>
              <a:srgbClr val="B39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539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표 53">
            <a:extLst>
              <a:ext uri="{FF2B5EF4-FFF2-40B4-BE49-F238E27FC236}">
                <a16:creationId xmlns:a16="http://schemas.microsoft.com/office/drawing/2014/main" id="{19A0276E-8D5C-A5C1-2A79-664DF96F5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547528"/>
              </p:ext>
            </p:extLst>
          </p:nvPr>
        </p:nvGraphicFramePr>
        <p:xfrm>
          <a:off x="1054887" y="1157175"/>
          <a:ext cx="10082226" cy="454503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417830">
                  <a:extLst>
                    <a:ext uri="{9D8B030D-6E8A-4147-A177-3AD203B41FA5}">
                      <a16:colId xmlns:a16="http://schemas.microsoft.com/office/drawing/2014/main" val="3510079255"/>
                    </a:ext>
                  </a:extLst>
                </a:gridCol>
                <a:gridCol w="1380628">
                  <a:extLst>
                    <a:ext uri="{9D8B030D-6E8A-4147-A177-3AD203B41FA5}">
                      <a16:colId xmlns:a16="http://schemas.microsoft.com/office/drawing/2014/main" val="3307274169"/>
                    </a:ext>
                  </a:extLst>
                </a:gridCol>
                <a:gridCol w="1380628">
                  <a:extLst>
                    <a:ext uri="{9D8B030D-6E8A-4147-A177-3AD203B41FA5}">
                      <a16:colId xmlns:a16="http://schemas.microsoft.com/office/drawing/2014/main" val="2782296572"/>
                    </a:ext>
                  </a:extLst>
                </a:gridCol>
                <a:gridCol w="1380628">
                  <a:extLst>
                    <a:ext uri="{9D8B030D-6E8A-4147-A177-3AD203B41FA5}">
                      <a16:colId xmlns:a16="http://schemas.microsoft.com/office/drawing/2014/main" val="780798212"/>
                    </a:ext>
                  </a:extLst>
                </a:gridCol>
                <a:gridCol w="1380628">
                  <a:extLst>
                    <a:ext uri="{9D8B030D-6E8A-4147-A177-3AD203B41FA5}">
                      <a16:colId xmlns:a16="http://schemas.microsoft.com/office/drawing/2014/main" val="3727572309"/>
                    </a:ext>
                  </a:extLst>
                </a:gridCol>
                <a:gridCol w="1557203">
                  <a:extLst>
                    <a:ext uri="{9D8B030D-6E8A-4147-A177-3AD203B41FA5}">
                      <a16:colId xmlns:a16="http://schemas.microsoft.com/office/drawing/2014/main" val="1921608286"/>
                    </a:ext>
                  </a:extLst>
                </a:gridCol>
                <a:gridCol w="1204053">
                  <a:extLst>
                    <a:ext uri="{9D8B030D-6E8A-4147-A177-3AD203B41FA5}">
                      <a16:colId xmlns:a16="http://schemas.microsoft.com/office/drawing/2014/main" val="104844955"/>
                    </a:ext>
                  </a:extLst>
                </a:gridCol>
                <a:gridCol w="1380628">
                  <a:extLst>
                    <a:ext uri="{9D8B030D-6E8A-4147-A177-3AD203B41FA5}">
                      <a16:colId xmlns:a16="http://schemas.microsoft.com/office/drawing/2014/main" val="3478721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</a:rPr>
                        <a:t>DEPTH1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</a:rPr>
                        <a:t>DEPTH2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</a:rPr>
                        <a:t>DEPTH3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</a:rPr>
                        <a:t>PAGE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</a:rPr>
                        <a:t>SCHEDULE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200" b="1" dirty="0">
                        <a:solidFill>
                          <a:schemeClr val="bg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200" b="1" dirty="0">
                        <a:solidFill>
                          <a:schemeClr val="bg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73479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1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MAIN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메인 슬라이드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 err="1"/>
                        <a:t>index.html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2</a:t>
                      </a:r>
                      <a:r>
                        <a:rPr lang="en-US" altLang="ko-KR" sz="1200" dirty="0"/>
                        <a:t>2.12.07 ~ 22.12.21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67764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최신</a:t>
                      </a:r>
                      <a:r>
                        <a:rPr lang="en-US" altLang="ko-KR" sz="1200" dirty="0"/>
                        <a:t>LP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949300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1200" dirty="0"/>
                        <a:t>발매예정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798632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카테고리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1200" dirty="0"/>
                        <a:t>국내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216296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1200" dirty="0"/>
                        <a:t>해외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371083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1200" dirty="0"/>
                        <a:t>클래식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992611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1200" dirty="0"/>
                        <a:t>기타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919386"/>
                  </a:ext>
                </a:extLst>
              </a:tr>
              <a:tr h="148297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MD</a:t>
                      </a:r>
                      <a:r>
                        <a:rPr lang="ko-KR" altLang="en-US" sz="1200" dirty="0"/>
                        <a:t>추천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893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200" dirty="0"/>
                        <a:t>이벤트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407219"/>
                  </a:ext>
                </a:extLst>
              </a:tr>
              <a:tr h="235328"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2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1200" dirty="0"/>
                        <a:t>예약판매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reserve.html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22.12.</a:t>
                      </a:r>
                      <a:r>
                        <a:rPr lang="en-US" altLang="ko-KR" sz="1200" dirty="0"/>
                        <a:t>10</a:t>
                      </a:r>
                      <a:r>
                        <a:rPr lang="en-US" altLang="ko-Kore-KR" sz="1200" dirty="0"/>
                        <a:t> ~ 22.12.</a:t>
                      </a:r>
                      <a:r>
                        <a:rPr lang="en-US" altLang="ko-KR" sz="1200" dirty="0"/>
                        <a:t>16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115436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251287"/>
                  </a:ext>
                </a:extLst>
              </a:tr>
              <a:tr h="148297"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3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1200" dirty="0"/>
                        <a:t>국내</a:t>
                      </a:r>
                      <a:r>
                        <a:rPr lang="en-US" altLang="ko-Kore-KR" sz="1200" dirty="0"/>
                        <a:t>LP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K-POP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 err="1"/>
                        <a:t>k_pop.html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22.12.1</a:t>
                      </a:r>
                      <a:r>
                        <a:rPr lang="en-US" altLang="ko-KR" sz="1200" dirty="0"/>
                        <a:t>1</a:t>
                      </a:r>
                      <a:r>
                        <a:rPr lang="en-US" altLang="ko-Kore-KR" sz="1200" dirty="0"/>
                        <a:t> ~ 22.12.18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959446"/>
                  </a:ext>
                </a:extLst>
              </a:tr>
              <a:tr h="148297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1200" dirty="0"/>
                        <a:t>발라드</a:t>
                      </a:r>
                      <a:r>
                        <a:rPr lang="en-US" altLang="ko-Kore-KR" sz="1200" dirty="0"/>
                        <a:t>/R&amp;B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err="1"/>
                        <a:t>rnb</a:t>
                      </a:r>
                      <a:r>
                        <a:rPr lang="en-US" altLang="ko-Kore-KR" sz="1200"/>
                        <a:t>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948506"/>
                  </a:ext>
                </a:extLst>
              </a:tr>
              <a:tr h="148297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BAND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k_bnad.html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384042"/>
                  </a:ext>
                </a:extLst>
              </a:tr>
              <a:tr h="148297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OST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k_ost.html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816497"/>
                  </a:ext>
                </a:extLst>
              </a:tr>
            </a:tbl>
          </a:graphicData>
        </a:graphic>
      </p:graphicFrame>
      <p:cxnSp>
        <p:nvCxnSpPr>
          <p:cNvPr id="2" name="直線コネクタ 3">
            <a:extLst>
              <a:ext uri="{FF2B5EF4-FFF2-40B4-BE49-F238E27FC236}">
                <a16:creationId xmlns:a16="http://schemas.microsoft.com/office/drawing/2014/main" id="{1212837A-7877-798F-2D54-D65F04770AC7}"/>
              </a:ext>
            </a:extLst>
          </p:cNvPr>
          <p:cNvCxnSpPr>
            <a:cxnSpLocks/>
          </p:cNvCxnSpPr>
          <p:nvPr/>
        </p:nvCxnSpPr>
        <p:spPr>
          <a:xfrm>
            <a:off x="344556" y="892749"/>
            <a:ext cx="11847444" cy="0"/>
          </a:xfrm>
          <a:prstGeom prst="line">
            <a:avLst/>
          </a:prstGeom>
          <a:ln w="19050">
            <a:solidFill>
              <a:srgbClr val="B39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DACC25D-5E58-0BB7-2E5A-88D9D810CF1A}"/>
              </a:ext>
            </a:extLst>
          </p:cNvPr>
          <p:cNvSpPr txBox="1"/>
          <p:nvPr/>
        </p:nvSpPr>
        <p:spPr>
          <a:xfrm>
            <a:off x="344556" y="195688"/>
            <a:ext cx="2855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ore-KR" altLang="en-US" sz="3600" b="1" spc="-300" dirty="0">
                <a:solidFill>
                  <a:srgbClr val="B39273"/>
                </a:solidFill>
              </a:rPr>
              <a:t>정보 구조 설계</a:t>
            </a:r>
            <a:endParaRPr lang="ko-KR" altLang="en-US" sz="3600" b="1" spc="-300" dirty="0">
              <a:solidFill>
                <a:srgbClr val="B39273"/>
              </a:solidFill>
            </a:endParaRPr>
          </a:p>
        </p:txBody>
      </p:sp>
      <p:sp>
        <p:nvSpPr>
          <p:cNvPr id="5" name="正方形/長方形 1">
            <a:extLst>
              <a:ext uri="{FF2B5EF4-FFF2-40B4-BE49-F238E27FC236}">
                <a16:creationId xmlns:a16="http://schemas.microsoft.com/office/drawing/2014/main" id="{ECC805E0-A942-9C66-3ADC-412372D2D0FC}"/>
              </a:ext>
            </a:extLst>
          </p:cNvPr>
          <p:cNvSpPr/>
          <p:nvPr/>
        </p:nvSpPr>
        <p:spPr>
          <a:xfrm>
            <a:off x="344556" y="6559826"/>
            <a:ext cx="11847443" cy="152400"/>
          </a:xfrm>
          <a:prstGeom prst="rect">
            <a:avLst/>
          </a:prstGeom>
          <a:solidFill>
            <a:srgbClr val="B39273"/>
          </a:solidFill>
          <a:ln>
            <a:solidFill>
              <a:srgbClr val="B392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9759A6-6DE1-CC86-DD92-5E89CDBA8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550" y="3409950"/>
            <a:ext cx="88900" cy="3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16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3">
            <a:extLst>
              <a:ext uri="{FF2B5EF4-FFF2-40B4-BE49-F238E27FC236}">
                <a16:creationId xmlns:a16="http://schemas.microsoft.com/office/drawing/2014/main" id="{1212837A-7877-798F-2D54-D65F04770AC7}"/>
              </a:ext>
            </a:extLst>
          </p:cNvPr>
          <p:cNvCxnSpPr>
            <a:cxnSpLocks/>
          </p:cNvCxnSpPr>
          <p:nvPr/>
        </p:nvCxnSpPr>
        <p:spPr>
          <a:xfrm>
            <a:off x="344556" y="892749"/>
            <a:ext cx="11847444" cy="0"/>
          </a:xfrm>
          <a:prstGeom prst="line">
            <a:avLst/>
          </a:prstGeom>
          <a:ln w="19050">
            <a:solidFill>
              <a:srgbClr val="B39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DACC25D-5E58-0BB7-2E5A-88D9D810CF1A}"/>
              </a:ext>
            </a:extLst>
          </p:cNvPr>
          <p:cNvSpPr txBox="1"/>
          <p:nvPr/>
        </p:nvSpPr>
        <p:spPr>
          <a:xfrm>
            <a:off x="344556" y="195688"/>
            <a:ext cx="2855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ore-KR" altLang="en-US" sz="3600" b="1" spc="-300" dirty="0">
                <a:solidFill>
                  <a:srgbClr val="B39273"/>
                </a:solidFill>
              </a:rPr>
              <a:t>정보 구조 설계</a:t>
            </a:r>
            <a:endParaRPr lang="ko-KR" altLang="en-US" sz="3600" b="1" spc="-300" dirty="0">
              <a:solidFill>
                <a:srgbClr val="B39273"/>
              </a:solidFill>
            </a:endParaRPr>
          </a:p>
        </p:txBody>
      </p:sp>
      <p:graphicFrame>
        <p:nvGraphicFramePr>
          <p:cNvPr id="4" name="표 53">
            <a:extLst>
              <a:ext uri="{FF2B5EF4-FFF2-40B4-BE49-F238E27FC236}">
                <a16:creationId xmlns:a16="http://schemas.microsoft.com/office/drawing/2014/main" id="{0B9C0D4E-0A63-707E-8BBC-6565E187C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367515"/>
              </p:ext>
            </p:extLst>
          </p:nvPr>
        </p:nvGraphicFramePr>
        <p:xfrm>
          <a:off x="1053299" y="1283198"/>
          <a:ext cx="10085401" cy="48861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421005">
                  <a:extLst>
                    <a:ext uri="{9D8B030D-6E8A-4147-A177-3AD203B41FA5}">
                      <a16:colId xmlns:a16="http://schemas.microsoft.com/office/drawing/2014/main" val="3510079255"/>
                    </a:ext>
                  </a:extLst>
                </a:gridCol>
                <a:gridCol w="1380628">
                  <a:extLst>
                    <a:ext uri="{9D8B030D-6E8A-4147-A177-3AD203B41FA5}">
                      <a16:colId xmlns:a16="http://schemas.microsoft.com/office/drawing/2014/main" val="3307274169"/>
                    </a:ext>
                  </a:extLst>
                </a:gridCol>
                <a:gridCol w="1380628">
                  <a:extLst>
                    <a:ext uri="{9D8B030D-6E8A-4147-A177-3AD203B41FA5}">
                      <a16:colId xmlns:a16="http://schemas.microsoft.com/office/drawing/2014/main" val="2782296572"/>
                    </a:ext>
                  </a:extLst>
                </a:gridCol>
                <a:gridCol w="1380628">
                  <a:extLst>
                    <a:ext uri="{9D8B030D-6E8A-4147-A177-3AD203B41FA5}">
                      <a16:colId xmlns:a16="http://schemas.microsoft.com/office/drawing/2014/main" val="780798212"/>
                    </a:ext>
                  </a:extLst>
                </a:gridCol>
                <a:gridCol w="1380628">
                  <a:extLst>
                    <a:ext uri="{9D8B030D-6E8A-4147-A177-3AD203B41FA5}">
                      <a16:colId xmlns:a16="http://schemas.microsoft.com/office/drawing/2014/main" val="3727572309"/>
                    </a:ext>
                  </a:extLst>
                </a:gridCol>
                <a:gridCol w="1432809">
                  <a:extLst>
                    <a:ext uri="{9D8B030D-6E8A-4147-A177-3AD203B41FA5}">
                      <a16:colId xmlns:a16="http://schemas.microsoft.com/office/drawing/2014/main" val="1921608286"/>
                    </a:ext>
                  </a:extLst>
                </a:gridCol>
                <a:gridCol w="1328447">
                  <a:extLst>
                    <a:ext uri="{9D8B030D-6E8A-4147-A177-3AD203B41FA5}">
                      <a16:colId xmlns:a16="http://schemas.microsoft.com/office/drawing/2014/main" val="104844955"/>
                    </a:ext>
                  </a:extLst>
                </a:gridCol>
                <a:gridCol w="1380628">
                  <a:extLst>
                    <a:ext uri="{9D8B030D-6E8A-4147-A177-3AD203B41FA5}">
                      <a16:colId xmlns:a16="http://schemas.microsoft.com/office/drawing/2014/main" val="3478721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</a:rPr>
                        <a:t>DEPTH1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</a:rPr>
                        <a:t>DEPTH2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</a:rPr>
                        <a:t>DEPTH3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</a:rPr>
                        <a:t>PAGE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 b="1" dirty="0">
                          <a:solidFill>
                            <a:schemeClr val="bg1"/>
                          </a:solidFill>
                        </a:rPr>
                        <a:t>SCHEDULE</a:t>
                      </a:r>
                      <a:endParaRPr lang="ko-Kore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200" b="1" dirty="0">
                        <a:solidFill>
                          <a:schemeClr val="bg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 sz="1200" b="1" dirty="0">
                        <a:solidFill>
                          <a:schemeClr val="bg1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773479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4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해외</a:t>
                      </a:r>
                      <a:r>
                        <a:rPr lang="en-US" altLang="ko-KR" sz="1200" dirty="0"/>
                        <a:t>LP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POP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pop.html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22.12.1</a:t>
                      </a:r>
                      <a:r>
                        <a:rPr lang="en-US" altLang="ko-KR" sz="1200" dirty="0"/>
                        <a:t>6</a:t>
                      </a:r>
                      <a:r>
                        <a:rPr lang="en-US" altLang="ko-Kore-KR" sz="1200" dirty="0"/>
                        <a:t> ~ 22.12 </a:t>
                      </a:r>
                      <a:r>
                        <a:rPr lang="en-US" altLang="ko-KR" sz="1200" dirty="0"/>
                        <a:t>19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67764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BAND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k_band.html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949300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HIPHOP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hiphop.html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798632"/>
                  </a:ext>
                </a:extLst>
              </a:tr>
              <a:tr h="148297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OST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o_ost.html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216296"/>
                  </a:ext>
                </a:extLst>
              </a:tr>
              <a:tr h="148297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819501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5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1200" dirty="0"/>
                        <a:t>기타</a:t>
                      </a:r>
                      <a:r>
                        <a:rPr lang="en-US" altLang="ko-Kore-KR" sz="1200" dirty="0"/>
                        <a:t>LP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1200" dirty="0"/>
                        <a:t>클래식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classic.html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22.12.17 ~ 22.12.</a:t>
                      </a:r>
                      <a:r>
                        <a:rPr lang="en-US" altLang="ko-KR" sz="1200" dirty="0"/>
                        <a:t>21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371083"/>
                  </a:ext>
                </a:extLst>
              </a:tr>
              <a:tr h="148297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1200" dirty="0"/>
                        <a:t>재즈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jazz.html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99261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1200" dirty="0"/>
                        <a:t>국악</a:t>
                      </a:r>
                      <a:r>
                        <a:rPr lang="en-US" altLang="ko-Kore-KR" sz="1200" dirty="0"/>
                        <a:t>/</a:t>
                      </a:r>
                      <a:r>
                        <a:rPr lang="ko-Kore-KR" altLang="en-US" sz="1200" dirty="0"/>
                        <a:t>명상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medi.html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822489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184405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6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1200" dirty="0"/>
                        <a:t>악세서리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acc.html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22.12.</a:t>
                      </a:r>
                      <a:r>
                        <a:rPr lang="en-US" altLang="ko-KR" sz="1200" dirty="0"/>
                        <a:t>17</a:t>
                      </a:r>
                      <a:r>
                        <a:rPr lang="en-US" altLang="ko-Kore-KR" sz="1200" dirty="0"/>
                        <a:t> ~ 22.12.</a:t>
                      </a:r>
                      <a:r>
                        <a:rPr lang="en-US" altLang="ko-KR" sz="1200" dirty="0"/>
                        <a:t>21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919386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893338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959446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384042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7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뉴스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1200" dirty="0"/>
                        <a:t>이벤트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event.html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22.12.</a:t>
                      </a:r>
                      <a:r>
                        <a:rPr lang="en-US" altLang="ko-KR" sz="1200" dirty="0"/>
                        <a:t>18 </a:t>
                      </a:r>
                      <a:r>
                        <a:rPr lang="en-US" altLang="ko-Kore-KR" sz="1200" dirty="0"/>
                        <a:t>~ 22.12.22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163444"/>
                  </a:ext>
                </a:extLst>
              </a:tr>
              <a:tr h="296594"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1200" dirty="0"/>
                        <a:t>공지사항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notice.html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22.12.20 ~ 22.12.24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19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8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1200" dirty="0"/>
                        <a:t>고객센터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cs.html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ore-KR" sz="1200" dirty="0"/>
                        <a:t>22.12.21 ~ 22.12.25</a:t>
                      </a:r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2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558210"/>
                  </a:ext>
                </a:extLst>
              </a:tr>
            </a:tbl>
          </a:graphicData>
        </a:graphic>
      </p:graphicFrame>
      <p:sp>
        <p:nvSpPr>
          <p:cNvPr id="5" name="正方形/長方形 1">
            <a:extLst>
              <a:ext uri="{FF2B5EF4-FFF2-40B4-BE49-F238E27FC236}">
                <a16:creationId xmlns:a16="http://schemas.microsoft.com/office/drawing/2014/main" id="{4F0F3D3D-7BD3-B925-1C7D-8B88C79440BB}"/>
              </a:ext>
            </a:extLst>
          </p:cNvPr>
          <p:cNvSpPr/>
          <p:nvPr/>
        </p:nvSpPr>
        <p:spPr>
          <a:xfrm>
            <a:off x="344556" y="6559826"/>
            <a:ext cx="11847443" cy="152400"/>
          </a:xfrm>
          <a:prstGeom prst="rect">
            <a:avLst/>
          </a:prstGeom>
          <a:solidFill>
            <a:srgbClr val="B39273"/>
          </a:solidFill>
          <a:ln>
            <a:solidFill>
              <a:srgbClr val="B392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7611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3">
            <a:extLst>
              <a:ext uri="{FF2B5EF4-FFF2-40B4-BE49-F238E27FC236}">
                <a16:creationId xmlns:a16="http://schemas.microsoft.com/office/drawing/2014/main" id="{1212837A-7877-798F-2D54-D65F04770AC7}"/>
              </a:ext>
            </a:extLst>
          </p:cNvPr>
          <p:cNvCxnSpPr>
            <a:cxnSpLocks/>
          </p:cNvCxnSpPr>
          <p:nvPr/>
        </p:nvCxnSpPr>
        <p:spPr>
          <a:xfrm>
            <a:off x="344556" y="892749"/>
            <a:ext cx="11847444" cy="0"/>
          </a:xfrm>
          <a:prstGeom prst="line">
            <a:avLst/>
          </a:prstGeom>
          <a:ln w="19050">
            <a:solidFill>
              <a:srgbClr val="B39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DACC25D-5E58-0BB7-2E5A-88D9D810CF1A}"/>
              </a:ext>
            </a:extLst>
          </p:cNvPr>
          <p:cNvSpPr txBox="1"/>
          <p:nvPr/>
        </p:nvSpPr>
        <p:spPr>
          <a:xfrm>
            <a:off x="344556" y="195688"/>
            <a:ext cx="2855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ore-KR" altLang="en-US" sz="3600" b="1" spc="-300" dirty="0">
                <a:solidFill>
                  <a:srgbClr val="B39273"/>
                </a:solidFill>
              </a:rPr>
              <a:t>정보 구조 설계</a:t>
            </a:r>
            <a:endParaRPr lang="ko-KR" altLang="en-US" sz="3600" b="1" spc="-300" dirty="0">
              <a:solidFill>
                <a:srgbClr val="B39273"/>
              </a:solidFill>
            </a:endParaRPr>
          </a:p>
        </p:txBody>
      </p:sp>
      <p:sp>
        <p:nvSpPr>
          <p:cNvPr id="5" name="正方形/長方形 1">
            <a:extLst>
              <a:ext uri="{FF2B5EF4-FFF2-40B4-BE49-F238E27FC236}">
                <a16:creationId xmlns:a16="http://schemas.microsoft.com/office/drawing/2014/main" id="{4F0F3D3D-7BD3-B925-1C7D-8B88C79440BB}"/>
              </a:ext>
            </a:extLst>
          </p:cNvPr>
          <p:cNvSpPr/>
          <p:nvPr/>
        </p:nvSpPr>
        <p:spPr>
          <a:xfrm>
            <a:off x="344556" y="6559826"/>
            <a:ext cx="11847443" cy="152400"/>
          </a:xfrm>
          <a:prstGeom prst="rect">
            <a:avLst/>
          </a:prstGeom>
          <a:solidFill>
            <a:srgbClr val="B39273"/>
          </a:solidFill>
          <a:ln>
            <a:solidFill>
              <a:srgbClr val="B392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4" name="표 6">
            <a:extLst>
              <a:ext uri="{FF2B5EF4-FFF2-40B4-BE49-F238E27FC236}">
                <a16:creationId xmlns:a16="http://schemas.microsoft.com/office/drawing/2014/main" id="{165417B3-C473-27B0-6B0D-E53A36C3E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756078"/>
              </p:ext>
            </p:extLst>
          </p:nvPr>
        </p:nvGraphicFramePr>
        <p:xfrm>
          <a:off x="344553" y="1783079"/>
          <a:ext cx="11502894" cy="34168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2419">
                  <a:extLst>
                    <a:ext uri="{9D8B030D-6E8A-4147-A177-3AD203B41FA5}">
                      <a16:colId xmlns:a16="http://schemas.microsoft.com/office/drawing/2014/main" val="1696396711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2408242861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803976286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2359876425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4213755783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157760573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1376750107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1387963477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4190201955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2272141440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2497491014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3736625938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817407234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612879445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2335579893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3773207767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1989042102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347434813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2447977403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2646997638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577436808"/>
                    </a:ext>
                  </a:extLst>
                </a:gridCol>
                <a:gridCol w="2212095">
                  <a:extLst>
                    <a:ext uri="{9D8B030D-6E8A-4147-A177-3AD203B41FA5}">
                      <a16:colId xmlns:a16="http://schemas.microsoft.com/office/drawing/2014/main" val="1166729164"/>
                    </a:ext>
                  </a:extLst>
                </a:gridCol>
              </a:tblGrid>
              <a:tr h="433126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6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7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8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9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0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3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4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5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6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7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8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9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0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3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4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25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26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062667"/>
                  </a:ext>
                </a:extLst>
              </a:tr>
              <a:tr h="372969">
                <a:tc gridSpan="16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메인 페이지</a:t>
                      </a:r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522359"/>
                  </a:ext>
                </a:extLst>
              </a:tr>
              <a:tr h="372969">
                <a:tc gridSpan="5">
                  <a:txBody>
                    <a:bodyPr/>
                    <a:lstStyle/>
                    <a:p>
                      <a:pPr algn="ctr"/>
                      <a:r>
                        <a:rPr lang="ko-Kore-KR" altLang="en-US" sz="1000"/>
                        <a:t>와이어</a:t>
                      </a:r>
                      <a:r>
                        <a:rPr lang="ko-KR" altLang="en-US" sz="1000"/>
                        <a:t> 프레임 및 시안 완성</a:t>
                      </a:r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ko-Kore-KR" altLang="en-US" sz="1000"/>
                        <a:t>필요한</a:t>
                      </a:r>
                      <a:r>
                        <a:rPr lang="ko-KR" altLang="en-US" sz="1000"/>
                        <a:t> 이미지 제작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ko-Kore-KR" sz="1000"/>
                        <a:t>html, css, script </a:t>
                      </a:r>
                      <a:r>
                        <a:rPr lang="ko-KR" altLang="en-US" sz="1000"/>
                        <a:t>완성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948048"/>
                  </a:ext>
                </a:extLst>
              </a:tr>
              <a:tr h="372969"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ore-KR" altLang="en-US" sz="1200"/>
                        <a:t>예약판매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105327"/>
                  </a:ext>
                </a:extLst>
              </a:tr>
              <a:tr h="372969">
                <a:tc gridSpan="4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ko-Kore-KR" altLang="en-US" sz="1000"/>
                        <a:t>와이어프레임</a:t>
                      </a:r>
                      <a:r>
                        <a:rPr lang="ko-KR" altLang="en-US" sz="1000"/>
                        <a:t> 및 시안 완성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ko-Kore-KR" sz="1000"/>
                        <a:t>html, css script </a:t>
                      </a:r>
                      <a:r>
                        <a:rPr lang="ko-KR" altLang="en-US" sz="1000"/>
                        <a:t>완성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10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832260"/>
                  </a:ext>
                </a:extLst>
              </a:tr>
              <a:tr h="372969"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국내</a:t>
                      </a:r>
                      <a:r>
                        <a:rPr lang="en-US" altLang="ko-KR" sz="1200"/>
                        <a:t>LP</a:t>
                      </a:r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997473"/>
                  </a:ext>
                </a:extLst>
              </a:tr>
              <a:tr h="372969">
                <a:tc gridSpan="5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ko-Kore-KR" altLang="en-US" sz="1000"/>
                        <a:t>와이어</a:t>
                      </a:r>
                      <a:r>
                        <a:rPr lang="ko-KR" altLang="en-US" sz="1000"/>
                        <a:t> 프레임 및 시안 완성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000"/>
                        <a:t>html, css script </a:t>
                      </a:r>
                      <a:r>
                        <a:rPr lang="ko-KR" altLang="en-US" sz="1000"/>
                        <a:t>완성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299172"/>
                  </a:ext>
                </a:extLst>
              </a:tr>
              <a:tr h="372969"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해외</a:t>
                      </a:r>
                      <a:r>
                        <a:rPr lang="en-US" altLang="ko-KR" sz="1200"/>
                        <a:t>LP</a:t>
                      </a:r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71251"/>
                  </a:ext>
                </a:extLst>
              </a:tr>
              <a:tr h="372969">
                <a:tc gridSpan="9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000"/>
                        <a:t>html, css script </a:t>
                      </a:r>
                      <a:r>
                        <a:rPr lang="ko-KR" altLang="en-US" sz="1000"/>
                        <a:t>완성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000"/>
                        <a:t>html, css script </a:t>
                      </a:r>
                      <a:r>
                        <a:rPr lang="ko-KR" altLang="en-US" sz="1000"/>
                        <a:t>완성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009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737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3">
            <a:extLst>
              <a:ext uri="{FF2B5EF4-FFF2-40B4-BE49-F238E27FC236}">
                <a16:creationId xmlns:a16="http://schemas.microsoft.com/office/drawing/2014/main" id="{1212837A-7877-798F-2D54-D65F04770AC7}"/>
              </a:ext>
            </a:extLst>
          </p:cNvPr>
          <p:cNvCxnSpPr>
            <a:cxnSpLocks/>
          </p:cNvCxnSpPr>
          <p:nvPr/>
        </p:nvCxnSpPr>
        <p:spPr>
          <a:xfrm>
            <a:off x="344556" y="892749"/>
            <a:ext cx="11847444" cy="0"/>
          </a:xfrm>
          <a:prstGeom prst="line">
            <a:avLst/>
          </a:prstGeom>
          <a:ln w="19050">
            <a:solidFill>
              <a:srgbClr val="B39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DACC25D-5E58-0BB7-2E5A-88D9D810CF1A}"/>
              </a:ext>
            </a:extLst>
          </p:cNvPr>
          <p:cNvSpPr txBox="1"/>
          <p:nvPr/>
        </p:nvSpPr>
        <p:spPr>
          <a:xfrm>
            <a:off x="344556" y="195688"/>
            <a:ext cx="2855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ore-KR" altLang="en-US" sz="3600" b="1" spc="-300" dirty="0">
                <a:solidFill>
                  <a:srgbClr val="B39273"/>
                </a:solidFill>
              </a:rPr>
              <a:t>정보 구조 설계</a:t>
            </a:r>
            <a:endParaRPr lang="ko-KR" altLang="en-US" sz="3600" b="1" spc="-300" dirty="0">
              <a:solidFill>
                <a:srgbClr val="B39273"/>
              </a:solidFill>
            </a:endParaRPr>
          </a:p>
        </p:txBody>
      </p:sp>
      <p:sp>
        <p:nvSpPr>
          <p:cNvPr id="5" name="正方形/長方形 1">
            <a:extLst>
              <a:ext uri="{FF2B5EF4-FFF2-40B4-BE49-F238E27FC236}">
                <a16:creationId xmlns:a16="http://schemas.microsoft.com/office/drawing/2014/main" id="{4F0F3D3D-7BD3-B925-1C7D-8B88C79440BB}"/>
              </a:ext>
            </a:extLst>
          </p:cNvPr>
          <p:cNvSpPr/>
          <p:nvPr/>
        </p:nvSpPr>
        <p:spPr>
          <a:xfrm>
            <a:off x="344556" y="6559826"/>
            <a:ext cx="11847443" cy="152400"/>
          </a:xfrm>
          <a:prstGeom prst="rect">
            <a:avLst/>
          </a:prstGeom>
          <a:solidFill>
            <a:srgbClr val="B39273"/>
          </a:solidFill>
          <a:ln>
            <a:solidFill>
              <a:srgbClr val="B392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4" name="표 6">
            <a:extLst>
              <a:ext uri="{FF2B5EF4-FFF2-40B4-BE49-F238E27FC236}">
                <a16:creationId xmlns:a16="http://schemas.microsoft.com/office/drawing/2014/main" id="{165417B3-C473-27B0-6B0D-E53A36C3E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333276"/>
              </p:ext>
            </p:extLst>
          </p:nvPr>
        </p:nvGraphicFramePr>
        <p:xfrm>
          <a:off x="344553" y="1714607"/>
          <a:ext cx="11502894" cy="38378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2419">
                  <a:extLst>
                    <a:ext uri="{9D8B030D-6E8A-4147-A177-3AD203B41FA5}">
                      <a16:colId xmlns:a16="http://schemas.microsoft.com/office/drawing/2014/main" val="1696396711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2408242861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803976286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2359876425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4213755783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157760573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1376750107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1387963477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4190201955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2272141440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2497491014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3736625938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817407234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612879445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2335579893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3773207767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1989042102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347434813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2447977403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2646997638"/>
                    </a:ext>
                  </a:extLst>
                </a:gridCol>
                <a:gridCol w="442419">
                  <a:extLst>
                    <a:ext uri="{9D8B030D-6E8A-4147-A177-3AD203B41FA5}">
                      <a16:colId xmlns:a16="http://schemas.microsoft.com/office/drawing/2014/main" val="577436808"/>
                    </a:ext>
                  </a:extLst>
                </a:gridCol>
                <a:gridCol w="2212095">
                  <a:extLst>
                    <a:ext uri="{9D8B030D-6E8A-4147-A177-3AD203B41FA5}">
                      <a16:colId xmlns:a16="http://schemas.microsoft.com/office/drawing/2014/main" val="1166729164"/>
                    </a:ext>
                  </a:extLst>
                </a:gridCol>
              </a:tblGrid>
              <a:tr h="476427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6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7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8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9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0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3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4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5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6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7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8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9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0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3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</a:t>
                      </a:r>
                      <a:r>
                        <a:rPr lang="en-US" altLang="ko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4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25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20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26</a:t>
                      </a:r>
                      <a:endParaRPr lang="ko-Kore-KR" altLang="en-US" sz="120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ore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062667"/>
                  </a:ext>
                </a:extLst>
              </a:tr>
              <a:tr h="336147"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ore-KR" altLang="en-US" sz="1200"/>
                        <a:t>기타</a:t>
                      </a:r>
                      <a:r>
                        <a:rPr lang="en-US" altLang="ko-KR" sz="1200"/>
                        <a:t>LP</a:t>
                      </a:r>
                      <a:endParaRPr lang="ko-Kore-KR" altLang="en-US" sz="12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137286"/>
                  </a:ext>
                </a:extLst>
              </a:tr>
              <a:tr h="336147">
                <a:tc gridSpan="11">
                  <a:txBody>
                    <a:bodyPr/>
                    <a:lstStyle/>
                    <a:p>
                      <a:pPr algn="ctr"/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000"/>
                        <a:t>html, css script </a:t>
                      </a:r>
                      <a:r>
                        <a:rPr lang="ko-KR" altLang="en-US" sz="1000"/>
                        <a:t>완성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465446"/>
                  </a:ext>
                </a:extLst>
              </a:tr>
              <a:tr h="336147"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ore-KR" altLang="en-US" sz="1200"/>
                        <a:t>악세서리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625191"/>
                  </a:ext>
                </a:extLst>
              </a:tr>
              <a:tr h="336147">
                <a:tc gridSpan="1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000"/>
                        <a:t>html, css script </a:t>
                      </a:r>
                      <a:r>
                        <a:rPr lang="ko-KR" altLang="en-US" sz="1000"/>
                        <a:t>완성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892650"/>
                  </a:ext>
                </a:extLst>
              </a:tr>
              <a:tr h="336147"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9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ore-KR" altLang="en-US" sz="1200"/>
                        <a:t>이벤트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284745"/>
                  </a:ext>
                </a:extLst>
              </a:tr>
              <a:tr h="336147"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r>
                        <a:rPr lang="ko-Kore-KR" altLang="en-US" sz="1000"/>
                        <a:t>와이어</a:t>
                      </a:r>
                      <a:r>
                        <a:rPr lang="ko-KR" altLang="en-US" sz="1000"/>
                        <a:t> 및 시안 완성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r>
                        <a:rPr lang="ko-Kore-KR" altLang="en-US" sz="1000"/>
                        <a:t>와이어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1000"/>
                        <a:t>필요</a:t>
                      </a:r>
                      <a:r>
                        <a:rPr lang="ko-KR" altLang="en-US" sz="1000"/>
                        <a:t> 이미지 제작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ko-Kore-KR" sz="1000"/>
                        <a:t>html,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ore-KR" sz="1000"/>
                        <a:t>css script</a:t>
                      </a:r>
                      <a:r>
                        <a:rPr lang="ko-KR" altLang="en-US" sz="1000"/>
                        <a:t> 완성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457991"/>
                  </a:ext>
                </a:extLst>
              </a:tr>
              <a:tr h="336147"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ore-KR" altLang="en-US" sz="1200"/>
                        <a:t>공지사항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923412"/>
                  </a:ext>
                </a:extLst>
              </a:tr>
              <a:tr h="336147"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ko-Kore-KR" altLang="en-US" sz="1000"/>
                        <a:t>와이어</a:t>
                      </a:r>
                      <a:r>
                        <a:rPr lang="ko-KR" altLang="en-US" sz="1000"/>
                        <a:t> 및 시안 완성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000"/>
                        <a:t>html,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ore-KR" sz="1000"/>
                        <a:t>css script</a:t>
                      </a:r>
                      <a:r>
                        <a:rPr lang="ko-KR" altLang="en-US" sz="1000"/>
                        <a:t> 완성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018"/>
                  </a:ext>
                </a:extLst>
              </a:tr>
              <a:tr h="336147"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927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ore-KR" altLang="en-US" sz="1200"/>
                        <a:t>고객센터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243612"/>
                  </a:ext>
                </a:extLst>
              </a:tr>
              <a:tr h="336147"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ore-KR" altLang="en-US" sz="1000"/>
                        <a:t>와이어</a:t>
                      </a:r>
                      <a:r>
                        <a:rPr lang="ko-KR" altLang="en-US" sz="1000"/>
                        <a:t> 및 시안 완성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000"/>
                        <a:t>html,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ore-KR" sz="1000"/>
                        <a:t>css script</a:t>
                      </a:r>
                      <a:r>
                        <a:rPr lang="ko-KR" altLang="en-US" sz="1000"/>
                        <a:t> 완성</a:t>
                      </a:r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ore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718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890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7BCE89-19BC-3111-28B0-2FB74E73A3A4}"/>
              </a:ext>
            </a:extLst>
          </p:cNvPr>
          <p:cNvSpPr txBox="1"/>
          <p:nvPr/>
        </p:nvSpPr>
        <p:spPr>
          <a:xfrm>
            <a:off x="5546811" y="1241799"/>
            <a:ext cx="1098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b="1" dirty="0">
                <a:solidFill>
                  <a:srgbClr val="FF0000"/>
                </a:solidFill>
              </a:rPr>
              <a:t>SITE MAP</a:t>
            </a:r>
            <a:endParaRPr kumimoji="1" lang="ko-Kore-KR" altLang="en-US" b="1" dirty="0">
              <a:solidFill>
                <a:srgbClr val="FF0000"/>
              </a:solidFill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5C4487E0-31B3-F175-81E6-989D3E432936}"/>
              </a:ext>
            </a:extLst>
          </p:cNvPr>
          <p:cNvCxnSpPr/>
          <p:nvPr/>
        </p:nvCxnSpPr>
        <p:spPr>
          <a:xfrm>
            <a:off x="1039780" y="1867891"/>
            <a:ext cx="10289754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D0E9FB55-92A0-D911-4DB9-8C972881843C}"/>
              </a:ext>
            </a:extLst>
          </p:cNvPr>
          <p:cNvCxnSpPr/>
          <p:nvPr/>
        </p:nvCxnSpPr>
        <p:spPr>
          <a:xfrm>
            <a:off x="1039780" y="2438934"/>
            <a:ext cx="10289754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CBA964A-DD92-5FE4-F71F-22E66004853E}"/>
              </a:ext>
            </a:extLst>
          </p:cNvPr>
          <p:cNvSpPr txBox="1"/>
          <p:nvPr/>
        </p:nvSpPr>
        <p:spPr>
          <a:xfrm>
            <a:off x="1367137" y="2822528"/>
            <a:ext cx="102303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dirty="0"/>
              <a:t>메인 슬라이더</a:t>
            </a:r>
            <a:endParaRPr kumimoji="1" lang="ko-Kore-KR" altLang="en-US" sz="10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F392FA-8ECE-13C0-8876-D34EA523F1B4}"/>
              </a:ext>
            </a:extLst>
          </p:cNvPr>
          <p:cNvSpPr txBox="1"/>
          <p:nvPr/>
        </p:nvSpPr>
        <p:spPr>
          <a:xfrm>
            <a:off x="1367137" y="3322964"/>
            <a:ext cx="57900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dirty="0"/>
              <a:t>최신</a:t>
            </a:r>
            <a:r>
              <a:rPr kumimoji="1" lang="en" altLang="ko-KR" sz="1050" dirty="0"/>
              <a:t>LP</a:t>
            </a:r>
            <a:endParaRPr kumimoji="1" lang="ko-Kore-KR" altLang="en-US" sz="10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D28D8F-EF5D-6EA9-16FB-471BCF8180B6}"/>
              </a:ext>
            </a:extLst>
          </p:cNvPr>
          <p:cNvSpPr txBox="1"/>
          <p:nvPr/>
        </p:nvSpPr>
        <p:spPr>
          <a:xfrm>
            <a:off x="1367137" y="4323836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dirty="0"/>
              <a:t>카테고리</a:t>
            </a:r>
            <a:endParaRPr kumimoji="1" lang="ko-Kore-KR" altLang="en-US" sz="10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FBFE4A-0A1D-1348-A897-EE74A047B970}"/>
              </a:ext>
            </a:extLst>
          </p:cNvPr>
          <p:cNvSpPr txBox="1"/>
          <p:nvPr/>
        </p:nvSpPr>
        <p:spPr>
          <a:xfrm>
            <a:off x="1367137" y="3823400"/>
            <a:ext cx="84830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dirty="0"/>
              <a:t>판매예정</a:t>
            </a:r>
            <a:r>
              <a:rPr kumimoji="1" lang="en" altLang="ko-KR" sz="1050" dirty="0"/>
              <a:t>LP</a:t>
            </a:r>
            <a:endParaRPr kumimoji="1" lang="ko-Kore-KR" altLang="en-US" sz="10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E3A946-CFDF-AAE9-3AE5-30DFF5B8724C}"/>
              </a:ext>
            </a:extLst>
          </p:cNvPr>
          <p:cNvSpPr txBox="1"/>
          <p:nvPr/>
        </p:nvSpPr>
        <p:spPr>
          <a:xfrm>
            <a:off x="1367137" y="4824272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dirty="0"/>
              <a:t>이벤트</a:t>
            </a:r>
            <a:endParaRPr kumimoji="1" lang="ko-Kore-KR" altLang="en-US" sz="10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30C736-F313-73B8-A02F-9721D73D82F7}"/>
              </a:ext>
            </a:extLst>
          </p:cNvPr>
          <p:cNvSpPr txBox="1"/>
          <p:nvPr/>
        </p:nvSpPr>
        <p:spPr>
          <a:xfrm>
            <a:off x="4042055" y="2822528"/>
            <a:ext cx="5549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K-POP</a:t>
            </a:r>
            <a:r>
              <a:rPr kumimoji="1" lang="ko-KR" altLang="en-US" sz="1050" dirty="0"/>
              <a:t> </a:t>
            </a:r>
            <a:endParaRPr kumimoji="1" lang="ko-Kore-KR" altLang="en-US" sz="10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F6074B-67FC-EC1B-EE63-27CFE7184B84}"/>
              </a:ext>
            </a:extLst>
          </p:cNvPr>
          <p:cNvSpPr txBox="1"/>
          <p:nvPr/>
        </p:nvSpPr>
        <p:spPr>
          <a:xfrm>
            <a:off x="4042055" y="3251652"/>
            <a:ext cx="9396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dirty="0"/>
              <a:t>발라드</a:t>
            </a:r>
            <a:r>
              <a:rPr kumimoji="1" lang="en-US" altLang="ko-KR" sz="1050" dirty="0"/>
              <a:t>/</a:t>
            </a:r>
            <a:r>
              <a:rPr kumimoji="1" lang="en" altLang="ko-KR" sz="1050" dirty="0"/>
              <a:t>R&amp;B </a:t>
            </a:r>
            <a:endParaRPr kumimoji="1" lang="ko-Kore-KR" altLang="en-US" sz="10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99F6C5-47CE-6DC2-D260-AD5915B1ED0C}"/>
              </a:ext>
            </a:extLst>
          </p:cNvPr>
          <p:cNvSpPr txBox="1"/>
          <p:nvPr/>
        </p:nvSpPr>
        <p:spPr>
          <a:xfrm>
            <a:off x="4045743" y="3680776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dirty="0"/>
              <a:t>밴드</a:t>
            </a:r>
            <a:endParaRPr kumimoji="1" lang="ko-Kore-KR" altLang="en-US" sz="10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B947E9-2969-4E24-CA68-19A4358C1597}"/>
              </a:ext>
            </a:extLst>
          </p:cNvPr>
          <p:cNvSpPr txBox="1"/>
          <p:nvPr/>
        </p:nvSpPr>
        <p:spPr>
          <a:xfrm>
            <a:off x="5223463" y="2785180"/>
            <a:ext cx="4122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POP</a:t>
            </a:r>
            <a:endParaRPr kumimoji="1" lang="ko-Kore-KR" altLang="en-US" sz="105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53D5CB-A66C-53FE-0470-053DFDF426F1}"/>
              </a:ext>
            </a:extLst>
          </p:cNvPr>
          <p:cNvSpPr txBox="1"/>
          <p:nvPr/>
        </p:nvSpPr>
        <p:spPr>
          <a:xfrm>
            <a:off x="5223463" y="3214304"/>
            <a:ext cx="4908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ROCK</a:t>
            </a:r>
            <a:endParaRPr kumimoji="1" lang="ko-Kore-KR" altLang="en-US" sz="10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0C7122-622C-237D-F2D7-8286208C9067}"/>
              </a:ext>
            </a:extLst>
          </p:cNvPr>
          <p:cNvSpPr txBox="1"/>
          <p:nvPr/>
        </p:nvSpPr>
        <p:spPr>
          <a:xfrm>
            <a:off x="5227151" y="3643428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50" dirty="0"/>
              <a:t>HIPHOP</a:t>
            </a:r>
            <a:endParaRPr kumimoji="1" lang="ko-Kore-KR" altLang="en-US" sz="105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8A22ED-59A2-C819-96E3-7D2E3FF1E8C2}"/>
              </a:ext>
            </a:extLst>
          </p:cNvPr>
          <p:cNvSpPr txBox="1"/>
          <p:nvPr/>
        </p:nvSpPr>
        <p:spPr>
          <a:xfrm>
            <a:off x="5223463" y="4072552"/>
            <a:ext cx="4026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sz="1050" dirty="0"/>
              <a:t>OST</a:t>
            </a:r>
            <a:endParaRPr kumimoji="1" lang="ko-Kore-KR" altLang="en-US" sz="105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E9D357-BF6B-D979-9AFA-D0293A5867F8}"/>
              </a:ext>
            </a:extLst>
          </p:cNvPr>
          <p:cNvSpPr txBox="1"/>
          <p:nvPr/>
        </p:nvSpPr>
        <p:spPr>
          <a:xfrm>
            <a:off x="6400038" y="2791026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1050" dirty="0"/>
              <a:t>클래식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4153C4-7D4C-E55C-A50F-7343EA7B4D72}"/>
              </a:ext>
            </a:extLst>
          </p:cNvPr>
          <p:cNvSpPr txBox="1"/>
          <p:nvPr/>
        </p:nvSpPr>
        <p:spPr>
          <a:xfrm>
            <a:off x="6406534" y="3214304"/>
            <a:ext cx="4539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dirty="0"/>
              <a:t>재즈</a:t>
            </a:r>
            <a:endParaRPr kumimoji="1" lang="ko-Kore-KR" altLang="en-US" sz="105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6954C0-3D66-BD3F-67A0-AFF2103E1032}"/>
              </a:ext>
            </a:extLst>
          </p:cNvPr>
          <p:cNvSpPr txBox="1"/>
          <p:nvPr/>
        </p:nvSpPr>
        <p:spPr>
          <a:xfrm>
            <a:off x="6406534" y="3649159"/>
            <a:ext cx="774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dirty="0"/>
              <a:t>국악</a:t>
            </a:r>
            <a:r>
              <a:rPr kumimoji="1" lang="en-US" altLang="ko-KR" sz="1050" dirty="0"/>
              <a:t>/</a:t>
            </a:r>
            <a:r>
              <a:rPr kumimoji="1" lang="ko-KR" altLang="en-US" sz="1050" dirty="0"/>
              <a:t>명상</a:t>
            </a:r>
            <a:endParaRPr kumimoji="1" lang="ko-Kore-KR" altLang="en-US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8AA389-6940-0C39-B9FB-589408EAB9CB}"/>
              </a:ext>
            </a:extLst>
          </p:cNvPr>
          <p:cNvSpPr txBox="1"/>
          <p:nvPr/>
        </p:nvSpPr>
        <p:spPr>
          <a:xfrm>
            <a:off x="4040477" y="4109899"/>
            <a:ext cx="4026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sz="1050" dirty="0"/>
              <a:t>OST</a:t>
            </a:r>
            <a:endParaRPr kumimoji="1" lang="ko-Kore-KR" altLang="en-US" sz="1050" dirty="0"/>
          </a:p>
        </p:txBody>
      </p:sp>
      <p:sp>
        <p:nvSpPr>
          <p:cNvPr id="5" name="正方形/長方形 1">
            <a:extLst>
              <a:ext uri="{FF2B5EF4-FFF2-40B4-BE49-F238E27FC236}">
                <a16:creationId xmlns:a16="http://schemas.microsoft.com/office/drawing/2014/main" id="{6748DBA8-51A9-6891-B4D4-D0D4FA9DFB31}"/>
              </a:ext>
            </a:extLst>
          </p:cNvPr>
          <p:cNvSpPr/>
          <p:nvPr/>
        </p:nvSpPr>
        <p:spPr>
          <a:xfrm>
            <a:off x="344556" y="6559826"/>
            <a:ext cx="11847443" cy="152400"/>
          </a:xfrm>
          <a:prstGeom prst="rect">
            <a:avLst/>
          </a:prstGeom>
          <a:solidFill>
            <a:srgbClr val="B39273"/>
          </a:solidFill>
          <a:ln>
            <a:solidFill>
              <a:srgbClr val="B392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3">
            <a:extLst>
              <a:ext uri="{FF2B5EF4-FFF2-40B4-BE49-F238E27FC236}">
                <a16:creationId xmlns:a16="http://schemas.microsoft.com/office/drawing/2014/main" id="{5F7C29D1-7FC7-CC0D-B661-4F6408B445C0}"/>
              </a:ext>
            </a:extLst>
          </p:cNvPr>
          <p:cNvCxnSpPr>
            <a:cxnSpLocks/>
          </p:cNvCxnSpPr>
          <p:nvPr/>
        </p:nvCxnSpPr>
        <p:spPr>
          <a:xfrm>
            <a:off x="344556" y="892749"/>
            <a:ext cx="11847444" cy="0"/>
          </a:xfrm>
          <a:prstGeom prst="line">
            <a:avLst/>
          </a:prstGeom>
          <a:ln w="19050">
            <a:solidFill>
              <a:srgbClr val="B39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64112D9-000A-7189-7687-1C007ACDEEFC}"/>
              </a:ext>
            </a:extLst>
          </p:cNvPr>
          <p:cNvSpPr txBox="1"/>
          <p:nvPr/>
        </p:nvSpPr>
        <p:spPr>
          <a:xfrm>
            <a:off x="344556" y="195688"/>
            <a:ext cx="2855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ore-KR" altLang="en-US" sz="3600" b="1" spc="-300" dirty="0">
                <a:solidFill>
                  <a:srgbClr val="B39273"/>
                </a:solidFill>
              </a:rPr>
              <a:t>정보 구조 설계</a:t>
            </a:r>
            <a:endParaRPr lang="ko-KR" altLang="en-US" sz="3600" b="1" spc="-300" dirty="0">
              <a:solidFill>
                <a:srgbClr val="B39273"/>
              </a:solidFill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B2B9EA9-CDB5-530A-BAC2-B6DE71226A90}"/>
              </a:ext>
            </a:extLst>
          </p:cNvPr>
          <p:cNvGrpSpPr/>
          <p:nvPr/>
        </p:nvGrpSpPr>
        <p:grpSpPr>
          <a:xfrm>
            <a:off x="1493908" y="2037254"/>
            <a:ext cx="9547856" cy="276999"/>
            <a:chOff x="1632436" y="2046857"/>
            <a:chExt cx="9547856" cy="276999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7606A336-61A5-4DA1-FDE1-46E150CBECC6}"/>
                </a:ext>
              </a:extLst>
            </p:cNvPr>
            <p:cNvGrpSpPr/>
            <p:nvPr/>
          </p:nvGrpSpPr>
          <p:grpSpPr>
            <a:xfrm>
              <a:off x="1632436" y="2046857"/>
              <a:ext cx="8145221" cy="276999"/>
              <a:chOff x="2050392" y="2048592"/>
              <a:chExt cx="8145221" cy="276999"/>
            </a:xfrm>
          </p:grpSpPr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D2948370-2A41-D592-E5C6-FFD55479EB61}"/>
                  </a:ext>
                </a:extLst>
              </p:cNvPr>
              <p:cNvGrpSpPr/>
              <p:nvPr/>
            </p:nvGrpSpPr>
            <p:grpSpPr>
              <a:xfrm>
                <a:off x="2050392" y="2048592"/>
                <a:ext cx="8145221" cy="276999"/>
                <a:chOff x="1777265" y="1759730"/>
                <a:chExt cx="8145221" cy="276999"/>
              </a:xfrm>
            </p:grpSpPr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C3E0D54-3A31-75F0-B9BE-20955D3DDD6A}"/>
                    </a:ext>
                  </a:extLst>
                </p:cNvPr>
                <p:cNvSpPr txBox="1"/>
                <p:nvPr/>
              </p:nvSpPr>
              <p:spPr>
                <a:xfrm>
                  <a:off x="1777265" y="1759730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ko-KR" altLang="en-US" sz="1200" dirty="0"/>
                    <a:t>메인</a:t>
                  </a:r>
                  <a:endParaRPr kumimoji="1" lang="ko-Kore-KR" altLang="en-US" sz="1600" dirty="0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FDED76E-DB64-1DCC-4D4A-79FFFD7D7963}"/>
                    </a:ext>
                  </a:extLst>
                </p:cNvPr>
                <p:cNvSpPr txBox="1"/>
                <p:nvPr/>
              </p:nvSpPr>
              <p:spPr>
                <a:xfrm>
                  <a:off x="2872123" y="1759730"/>
                  <a:ext cx="80021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ko-KR" altLang="en-US" sz="1200" dirty="0"/>
                    <a:t>예약판매</a:t>
                  </a:r>
                  <a:endParaRPr kumimoji="1" lang="ko-Kore-KR" altLang="en-US" sz="1600" dirty="0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A2276FA-BB81-05C7-4E18-1C127F07D4FA}"/>
                    </a:ext>
                  </a:extLst>
                </p:cNvPr>
                <p:cNvSpPr txBox="1"/>
                <p:nvPr/>
              </p:nvSpPr>
              <p:spPr>
                <a:xfrm>
                  <a:off x="4274757" y="1759730"/>
                  <a:ext cx="63671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ko-KR" altLang="en-US" sz="1200" dirty="0"/>
                    <a:t>국내</a:t>
                  </a:r>
                  <a:r>
                    <a:rPr kumimoji="1" lang="en-US" altLang="ko-KR" sz="1200" dirty="0"/>
                    <a:t>LP</a:t>
                  </a:r>
                  <a:endParaRPr kumimoji="1" lang="ko-Kore-KR" altLang="en-US" sz="1600" dirty="0"/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5F94AE7-6A13-E3F0-DCF0-F8A2CC3D8CC8}"/>
                    </a:ext>
                  </a:extLst>
                </p:cNvPr>
                <p:cNvSpPr txBox="1"/>
                <p:nvPr/>
              </p:nvSpPr>
              <p:spPr>
                <a:xfrm>
                  <a:off x="5513885" y="1759730"/>
                  <a:ext cx="67197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ko-KR" altLang="en-US" sz="1200" dirty="0"/>
                    <a:t>해외 </a:t>
                  </a:r>
                  <a:r>
                    <a:rPr kumimoji="1" lang="en-US" altLang="ko-KR" sz="1200" dirty="0"/>
                    <a:t>LP</a:t>
                  </a:r>
                  <a:endParaRPr kumimoji="1" lang="ko-Kore-KR" altLang="en-US" sz="1600" dirty="0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70BF421-512D-3D11-DEDE-DBC341B189AE}"/>
                    </a:ext>
                  </a:extLst>
                </p:cNvPr>
                <p:cNvSpPr txBox="1"/>
                <p:nvPr/>
              </p:nvSpPr>
              <p:spPr>
                <a:xfrm>
                  <a:off x="8027408" y="1759730"/>
                  <a:ext cx="80021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ko-KR" altLang="en-US" sz="1200" dirty="0"/>
                    <a:t>악세서리</a:t>
                  </a:r>
                  <a:endParaRPr kumimoji="1" lang="ko-Kore-KR" altLang="en-US" sz="1600" dirty="0"/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06FBE6F-B003-8FAC-F36A-32FAF3A15C1B}"/>
                    </a:ext>
                  </a:extLst>
                </p:cNvPr>
                <p:cNvSpPr txBox="1"/>
                <p:nvPr/>
              </p:nvSpPr>
              <p:spPr>
                <a:xfrm>
                  <a:off x="9430042" y="1759730"/>
                  <a:ext cx="49244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kumimoji="1" lang="ko-KR" altLang="en-US" sz="1200" dirty="0"/>
                    <a:t>뉴스</a:t>
                  </a:r>
                  <a:endParaRPr kumimoji="1" lang="ko-Kore-KR" altLang="en-US" sz="1600" dirty="0"/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FE64D23-8CC3-6139-446B-5F6A0D23DCF1}"/>
                  </a:ext>
                </a:extLst>
              </p:cNvPr>
              <p:cNvSpPr txBox="1"/>
              <p:nvPr/>
            </p:nvSpPr>
            <p:spPr>
              <a:xfrm>
                <a:off x="7061406" y="2048592"/>
                <a:ext cx="6367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R" altLang="en-US" sz="1200" dirty="0"/>
                  <a:t>기타</a:t>
                </a:r>
                <a:r>
                  <a:rPr kumimoji="1" lang="en-US" altLang="ko-KR" sz="1200" dirty="0"/>
                  <a:t>LP</a:t>
                </a:r>
                <a:endParaRPr kumimoji="1" lang="ko-Kore-KR" altLang="en-US" sz="1600" dirty="0"/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AC2631B-F193-6FD0-94CD-EA66EC60CB5F}"/>
                </a:ext>
              </a:extLst>
            </p:cNvPr>
            <p:cNvSpPr txBox="1"/>
            <p:nvPr/>
          </p:nvSpPr>
          <p:spPr>
            <a:xfrm>
              <a:off x="10380073" y="2046857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1200" dirty="0"/>
                <a:t>고객센터</a:t>
              </a:r>
              <a:endParaRPr kumimoji="1" lang="ko-Kore-KR" altLang="en-US" sz="1600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7F1BF48-63DF-892C-7498-36B1FB76600E}"/>
              </a:ext>
            </a:extLst>
          </p:cNvPr>
          <p:cNvSpPr txBox="1"/>
          <p:nvPr/>
        </p:nvSpPr>
        <p:spPr>
          <a:xfrm>
            <a:off x="1367137" y="5324707"/>
            <a:ext cx="6527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50" dirty="0"/>
              <a:t>MD</a:t>
            </a:r>
            <a:r>
              <a:rPr kumimoji="1" lang="ko-KR" altLang="en-US" sz="1050" dirty="0"/>
              <a:t>추천</a:t>
            </a:r>
            <a:endParaRPr kumimoji="1" lang="ko-Kore-KR" alt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7A3D56-1FDC-C05B-4643-36E6F2A08AE3}"/>
              </a:ext>
            </a:extLst>
          </p:cNvPr>
          <p:cNvSpPr txBox="1"/>
          <p:nvPr/>
        </p:nvSpPr>
        <p:spPr>
          <a:xfrm>
            <a:off x="9031269" y="2769408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dirty="0"/>
              <a:t>공지사항</a:t>
            </a:r>
            <a:endParaRPr kumimoji="1" lang="ko-Kore-KR" altLang="en-US" sz="10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E9F51-2709-C3B2-3DA9-13EC647CC7D0}"/>
              </a:ext>
            </a:extLst>
          </p:cNvPr>
          <p:cNvSpPr txBox="1"/>
          <p:nvPr/>
        </p:nvSpPr>
        <p:spPr>
          <a:xfrm>
            <a:off x="9026192" y="3123152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dirty="0"/>
              <a:t>이벤트</a:t>
            </a:r>
            <a:endParaRPr kumimoji="1" lang="ko-Kore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516419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053D399-DC09-F1ED-E75B-F1945511F6A3}"/>
              </a:ext>
            </a:extLst>
          </p:cNvPr>
          <p:cNvCxnSpPr>
            <a:cxnSpLocks/>
          </p:cNvCxnSpPr>
          <p:nvPr/>
        </p:nvCxnSpPr>
        <p:spPr>
          <a:xfrm>
            <a:off x="344556" y="950843"/>
            <a:ext cx="11847444" cy="0"/>
          </a:xfrm>
          <a:prstGeom prst="line">
            <a:avLst/>
          </a:prstGeom>
          <a:ln w="19050">
            <a:solidFill>
              <a:srgbClr val="B39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045ECE-8D6C-1599-57DD-5A4C7BEB0402}"/>
              </a:ext>
            </a:extLst>
          </p:cNvPr>
          <p:cNvSpPr txBox="1"/>
          <p:nvPr/>
        </p:nvSpPr>
        <p:spPr>
          <a:xfrm>
            <a:off x="344556" y="195688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rgbClr val="B39273"/>
                </a:solidFill>
              </a:rPr>
              <a:t>컬러</a:t>
            </a:r>
          </a:p>
        </p:txBody>
      </p:sp>
      <p:sp>
        <p:nvSpPr>
          <p:cNvPr id="8" name="正方形/長方形 1">
            <a:extLst>
              <a:ext uri="{FF2B5EF4-FFF2-40B4-BE49-F238E27FC236}">
                <a16:creationId xmlns:a16="http://schemas.microsoft.com/office/drawing/2014/main" id="{E24B5F73-ED7D-F05C-B6A1-F07C8119FDD9}"/>
              </a:ext>
            </a:extLst>
          </p:cNvPr>
          <p:cNvSpPr/>
          <p:nvPr/>
        </p:nvSpPr>
        <p:spPr>
          <a:xfrm>
            <a:off x="344556" y="6559826"/>
            <a:ext cx="11847443" cy="152400"/>
          </a:xfrm>
          <a:prstGeom prst="rect">
            <a:avLst/>
          </a:prstGeom>
          <a:solidFill>
            <a:srgbClr val="B39273"/>
          </a:solidFill>
          <a:ln>
            <a:solidFill>
              <a:srgbClr val="B392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62E903E2-7D22-E88F-749B-AABFE7DB092B}"/>
              </a:ext>
            </a:extLst>
          </p:cNvPr>
          <p:cNvGrpSpPr/>
          <p:nvPr/>
        </p:nvGrpSpPr>
        <p:grpSpPr>
          <a:xfrm>
            <a:off x="1657625" y="2190556"/>
            <a:ext cx="8876750" cy="3129557"/>
            <a:chOff x="1964466" y="2190556"/>
            <a:chExt cx="8876750" cy="3129557"/>
          </a:xfrm>
        </p:grpSpPr>
        <p:sp>
          <p:nvSpPr>
            <p:cNvPr id="5" name="Rectangle 35">
              <a:extLst>
                <a:ext uri="{FF2B5EF4-FFF2-40B4-BE49-F238E27FC236}">
                  <a16:creationId xmlns:a16="http://schemas.microsoft.com/office/drawing/2014/main" id="{9CC3A66C-48B7-AE4B-F883-66CBED1C5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4411" y="3423424"/>
              <a:ext cx="1988298" cy="43338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38CC58C4-FFAF-9190-95DE-C6AA0ACA241E}"/>
                </a:ext>
              </a:extLst>
            </p:cNvPr>
            <p:cNvGrpSpPr/>
            <p:nvPr/>
          </p:nvGrpSpPr>
          <p:grpSpPr>
            <a:xfrm>
              <a:off x="2776716" y="2515477"/>
              <a:ext cx="8064500" cy="504825"/>
              <a:chOff x="539750" y="2214563"/>
              <a:chExt cx="8064500" cy="504825"/>
            </a:xfrm>
          </p:grpSpPr>
          <p:sp>
            <p:nvSpPr>
              <p:cNvPr id="9" name="Line 17">
                <a:extLst>
                  <a:ext uri="{FF2B5EF4-FFF2-40B4-BE49-F238E27FC236}">
                    <a16:creationId xmlns:a16="http://schemas.microsoft.com/office/drawing/2014/main" id="{C10CCAF8-9CC1-237D-03D7-5873F62026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9750" y="2719388"/>
                <a:ext cx="8064500" cy="0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ore-KR" altLang="en-US"/>
              </a:p>
            </p:txBody>
          </p:sp>
          <p:sp>
            <p:nvSpPr>
              <p:cNvPr id="10" name="Line 31">
                <a:extLst>
                  <a:ext uri="{FF2B5EF4-FFF2-40B4-BE49-F238E27FC236}">
                    <a16:creationId xmlns:a16="http://schemas.microsoft.com/office/drawing/2014/main" id="{002E5BC5-F839-0AFC-1628-83EFC9D4AB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00788" y="2214563"/>
                <a:ext cx="0" cy="504825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ore-KR" altLang="en-US"/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A95C6B23-EC92-4BD2-5BB0-0BA14647AAFA}"/>
                </a:ext>
              </a:extLst>
            </p:cNvPr>
            <p:cNvGrpSpPr/>
            <p:nvPr/>
          </p:nvGrpSpPr>
          <p:grpSpPr>
            <a:xfrm>
              <a:off x="2776716" y="3665383"/>
              <a:ext cx="8064500" cy="504825"/>
              <a:chOff x="539750" y="2214563"/>
              <a:chExt cx="8064500" cy="504825"/>
            </a:xfrm>
          </p:grpSpPr>
          <p:sp>
            <p:nvSpPr>
              <p:cNvPr id="13" name="Line 17">
                <a:extLst>
                  <a:ext uri="{FF2B5EF4-FFF2-40B4-BE49-F238E27FC236}">
                    <a16:creationId xmlns:a16="http://schemas.microsoft.com/office/drawing/2014/main" id="{65052072-CCD9-B6C6-BE01-0F8DE0D257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9750" y="2719388"/>
                <a:ext cx="8064500" cy="0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ore-KR" altLang="en-US"/>
              </a:p>
            </p:txBody>
          </p:sp>
          <p:sp>
            <p:nvSpPr>
              <p:cNvPr id="14" name="Line 31">
                <a:extLst>
                  <a:ext uri="{FF2B5EF4-FFF2-40B4-BE49-F238E27FC236}">
                    <a16:creationId xmlns:a16="http://schemas.microsoft.com/office/drawing/2014/main" id="{7816FFED-F4EA-A9FB-F146-29E776BA3C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00788" y="2214563"/>
                <a:ext cx="0" cy="504825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ore-KR" altLang="en-US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FB88F321-BE89-7BA8-BDA2-753FEBA96E87}"/>
                </a:ext>
              </a:extLst>
            </p:cNvPr>
            <p:cNvGrpSpPr/>
            <p:nvPr/>
          </p:nvGrpSpPr>
          <p:grpSpPr>
            <a:xfrm>
              <a:off x="2776716" y="4815288"/>
              <a:ext cx="8064500" cy="504825"/>
              <a:chOff x="539750" y="2214563"/>
              <a:chExt cx="8064500" cy="504825"/>
            </a:xfrm>
          </p:grpSpPr>
          <p:sp>
            <p:nvSpPr>
              <p:cNvPr id="16" name="Line 17">
                <a:extLst>
                  <a:ext uri="{FF2B5EF4-FFF2-40B4-BE49-F238E27FC236}">
                    <a16:creationId xmlns:a16="http://schemas.microsoft.com/office/drawing/2014/main" id="{307F08D3-2671-06FB-9324-CF946E61D6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9750" y="2719388"/>
                <a:ext cx="8064500" cy="0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ore-KR" altLang="en-US"/>
              </a:p>
            </p:txBody>
          </p:sp>
          <p:sp>
            <p:nvSpPr>
              <p:cNvPr id="17" name="Line 31">
                <a:extLst>
                  <a:ext uri="{FF2B5EF4-FFF2-40B4-BE49-F238E27FC236}">
                    <a16:creationId xmlns:a16="http://schemas.microsoft.com/office/drawing/2014/main" id="{5FA39E84-0B66-3816-1F8A-FD6FA949F9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00788" y="2214563"/>
                <a:ext cx="0" cy="504825"/>
              </a:xfrm>
              <a:prstGeom prst="line">
                <a:avLst/>
              </a:pr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ore-KR" altLang="en-US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9683E44-6C71-9A62-04D7-84202564840B}"/>
                </a:ext>
              </a:extLst>
            </p:cNvPr>
            <p:cNvSpPr txBox="1"/>
            <p:nvPr/>
          </p:nvSpPr>
          <p:spPr>
            <a:xfrm>
              <a:off x="2246596" y="2190556"/>
              <a:ext cx="1300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dirty="0">
                  <a:latin typeface="+mn-ea"/>
                </a:rPr>
                <a:t>Main Color</a:t>
              </a:r>
              <a:endParaRPr kumimoji="1" lang="ko-Kore-KR" altLang="en-US" dirty="0">
                <a:latin typeface="+mn-ea"/>
              </a:endParaRPr>
            </a:p>
          </p:txBody>
        </p:sp>
        <p:sp>
          <p:nvSpPr>
            <p:cNvPr id="24" name="Rectangle 19">
              <a:extLst>
                <a:ext uri="{FF2B5EF4-FFF2-40B4-BE49-F238E27FC236}">
                  <a16:creationId xmlns:a16="http://schemas.microsoft.com/office/drawing/2014/main" id="{8581BAAA-2DAD-601A-7EC3-449475AC1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2999" y="5071097"/>
              <a:ext cx="719138" cy="230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ko-KR" sz="900" dirty="0">
                  <a:latin typeface="돋움" panose="020B0600000101010101" pitchFamily="34" charset="-127"/>
                  <a:ea typeface="돋움" panose="020B0600000101010101" pitchFamily="34" charset="-127"/>
                </a:rPr>
                <a:t>#D4C1A7</a:t>
              </a: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69515EBB-26C4-56C5-349C-747ECEC13EBE}"/>
                </a:ext>
              </a:extLst>
            </p:cNvPr>
            <p:cNvGrpSpPr/>
            <p:nvPr/>
          </p:nvGrpSpPr>
          <p:grpSpPr>
            <a:xfrm>
              <a:off x="4725027" y="2769736"/>
              <a:ext cx="2803077" cy="1365407"/>
              <a:chOff x="2797601" y="3486410"/>
              <a:chExt cx="2803077" cy="1365407"/>
            </a:xfrm>
          </p:grpSpPr>
          <p:sp>
            <p:nvSpPr>
              <p:cNvPr id="29" name="Rectangle 18">
                <a:extLst>
                  <a:ext uri="{FF2B5EF4-FFF2-40B4-BE49-F238E27FC236}">
                    <a16:creationId xmlns:a16="http://schemas.microsoft.com/office/drawing/2014/main" id="{6856DE88-212C-4ECD-2FED-DB01F45BAC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1745" y="3486410"/>
                <a:ext cx="719138" cy="228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ko-KR" sz="900" dirty="0">
                    <a:latin typeface="돋움" panose="020B0600000101010101" pitchFamily="34" charset="-127"/>
                    <a:ea typeface="돋움" panose="020B0600000101010101" pitchFamily="34" charset="-127"/>
                  </a:rPr>
                  <a:t>#222222</a:t>
                </a:r>
              </a:p>
            </p:txBody>
          </p:sp>
          <p:sp>
            <p:nvSpPr>
              <p:cNvPr id="30" name="Rectangle 19">
                <a:extLst>
                  <a:ext uri="{FF2B5EF4-FFF2-40B4-BE49-F238E27FC236}">
                    <a16:creationId xmlns:a16="http://schemas.microsoft.com/office/drawing/2014/main" id="{4A1B49D5-F11E-934C-88F6-7FB3F94AD7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7601" y="4620985"/>
                <a:ext cx="783282" cy="2308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ko-KR" sz="900" dirty="0">
                    <a:latin typeface="돋움" panose="020B0600000101010101" pitchFamily="34" charset="-127"/>
                    <a:ea typeface="돋움" panose="020B0600000101010101" pitchFamily="34" charset="-127"/>
                  </a:rPr>
                  <a:t>#CCCCCC</a:t>
                </a:r>
              </a:p>
            </p:txBody>
          </p:sp>
          <p:sp>
            <p:nvSpPr>
              <p:cNvPr id="31" name="Rectangle 20">
                <a:extLst>
                  <a:ext uri="{FF2B5EF4-FFF2-40B4-BE49-F238E27FC236}">
                    <a16:creationId xmlns:a16="http://schemas.microsoft.com/office/drawing/2014/main" id="{EA7DFD71-EE9B-5AAA-BEBE-30E713B5E8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1540" y="4614768"/>
                <a:ext cx="719138" cy="2308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34" charset="-127"/>
                    <a:ea typeface="굴림" panose="020B0600000101010101" pitchFamily="34" charset="-127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ko-KR" sz="900" dirty="0">
                    <a:latin typeface="돋움" panose="020B0600000101010101" pitchFamily="34" charset="-127"/>
                    <a:ea typeface="돋움" panose="020B0600000101010101" pitchFamily="34" charset="-127"/>
                  </a:rPr>
                  <a:t>#E6E6E6</a:t>
                </a:r>
              </a:p>
            </p:txBody>
          </p:sp>
        </p:grp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CDA3173C-E6F9-BDBE-F404-90EFF24A6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09294" y="4632769"/>
              <a:ext cx="3973410" cy="437745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C862BD4-FB92-E54B-7A9F-130EA642F470}"/>
                </a:ext>
              </a:extLst>
            </p:cNvPr>
            <p:cNvSpPr txBox="1"/>
            <p:nvPr/>
          </p:nvSpPr>
          <p:spPr>
            <a:xfrm>
              <a:off x="2207578" y="4490076"/>
              <a:ext cx="13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dirty="0"/>
                <a:t>Accent Color</a:t>
              </a:r>
              <a:endParaRPr kumimoji="1" lang="ko-Kore-KR" alt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6CE7DAA-9A73-AB59-5C65-DDD67E2BF99F}"/>
                </a:ext>
              </a:extLst>
            </p:cNvPr>
            <p:cNvSpPr txBox="1"/>
            <p:nvPr/>
          </p:nvSpPr>
          <p:spPr>
            <a:xfrm>
              <a:off x="1964466" y="3269762"/>
              <a:ext cx="18646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dirty="0">
                  <a:latin typeface="+mn-ea"/>
                </a:rPr>
                <a:t>Decoration color</a:t>
              </a:r>
              <a:endParaRPr kumimoji="1" lang="ko-Kore-KR" altLang="en-US" dirty="0">
                <a:latin typeface="+mn-ea"/>
              </a:endParaRP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D990109D-AE26-EFF1-81AE-E6C816CD0AD7}"/>
                </a:ext>
              </a:extLst>
            </p:cNvPr>
            <p:cNvGrpSpPr/>
            <p:nvPr/>
          </p:nvGrpSpPr>
          <p:grpSpPr>
            <a:xfrm>
              <a:off x="4109295" y="2330264"/>
              <a:ext cx="3973410" cy="448081"/>
              <a:chOff x="3568606" y="1915537"/>
              <a:chExt cx="2639219" cy="448081"/>
            </a:xfrm>
          </p:grpSpPr>
          <p:pic>
            <p:nvPicPr>
              <p:cNvPr id="52" name="그림 51">
                <a:extLst>
                  <a:ext uri="{FF2B5EF4-FFF2-40B4-BE49-F238E27FC236}">
                    <a16:creationId xmlns:a16="http://schemas.microsoft.com/office/drawing/2014/main" id="{A6776915-A6EF-C76A-6AA8-1115C3A23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68606" y="1915677"/>
                <a:ext cx="1319212" cy="447941"/>
              </a:xfrm>
              <a:prstGeom prst="rect">
                <a:avLst/>
              </a:prstGeom>
            </p:spPr>
          </p:pic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C0263BE2-85DE-AFBA-58B5-B3755050D690}"/>
                  </a:ext>
                </a:extLst>
              </p:cNvPr>
              <p:cNvSpPr/>
              <p:nvPr/>
            </p:nvSpPr>
            <p:spPr>
              <a:xfrm>
                <a:off x="4887818" y="1915537"/>
                <a:ext cx="1320007" cy="437625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</p:grpSp>
        <p:sp>
          <p:nvSpPr>
            <p:cNvPr id="57" name="Rectangle 18">
              <a:extLst>
                <a:ext uri="{FF2B5EF4-FFF2-40B4-BE49-F238E27FC236}">
                  <a16:creationId xmlns:a16="http://schemas.microsoft.com/office/drawing/2014/main" id="{CA164D5C-CAB4-D4C0-BD76-51412028F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8966" y="2775001"/>
              <a:ext cx="719138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ko-KR" sz="900" dirty="0">
                  <a:latin typeface="돋움" panose="020B0600000101010101" pitchFamily="34" charset="-127"/>
                  <a:ea typeface="돋움" panose="020B0600000101010101" pitchFamily="34" charset="-127"/>
                </a:rPr>
                <a:t>#FFFFFF</a:t>
              </a:r>
            </a:p>
          </p:txBody>
        </p:sp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348700E4-F532-BBE1-F2A2-ED2626BAD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09294" y="3423284"/>
              <a:ext cx="1993273" cy="433528"/>
            </a:xfrm>
            <a:prstGeom prst="rect">
              <a:avLst/>
            </a:prstGeom>
          </p:spPr>
        </p:pic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E1473B4D-86D3-3984-BF67-9810820AA724}"/>
              </a:ext>
            </a:extLst>
          </p:cNvPr>
          <p:cNvSpPr txBox="1"/>
          <p:nvPr/>
        </p:nvSpPr>
        <p:spPr>
          <a:xfrm>
            <a:off x="8475203" y="2306224"/>
            <a:ext cx="1630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LP</a:t>
            </a:r>
            <a:r>
              <a:rPr kumimoji="1" lang="ko-KR" altLang="en-US" sz="1200" dirty="0"/>
              <a:t>의 대표적인 색상인</a:t>
            </a:r>
            <a:endParaRPr kumimoji="1" lang="en-US" altLang="ko-KR" sz="1200" dirty="0"/>
          </a:p>
          <a:p>
            <a:r>
              <a:rPr kumimoji="1" lang="ko-KR" altLang="en-US" sz="1200" dirty="0"/>
              <a:t>블랙</a:t>
            </a:r>
            <a:r>
              <a:rPr kumimoji="1" lang="en-US" altLang="ko-KR" sz="1200" dirty="0"/>
              <a:t>&amp;</a:t>
            </a:r>
            <a:r>
              <a:rPr kumimoji="1" lang="ko-KR" altLang="en-US" sz="1200" dirty="0"/>
              <a:t>화이트 조합</a:t>
            </a:r>
            <a:endParaRPr kumimoji="1" lang="ko-Kore-KR" altLang="en-US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50DF77-40B7-6DED-EAB6-7D7B8B6C6357}"/>
              </a:ext>
            </a:extLst>
          </p:cNvPr>
          <p:cNvSpPr txBox="1"/>
          <p:nvPr/>
        </p:nvSpPr>
        <p:spPr>
          <a:xfrm>
            <a:off x="8475203" y="3424445"/>
            <a:ext cx="1947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블랙과 화이트의 중간인 </a:t>
            </a:r>
            <a:endParaRPr kumimoji="1" lang="en-US" altLang="ko-KR" sz="1200" dirty="0"/>
          </a:p>
          <a:p>
            <a:r>
              <a:rPr kumimoji="1" lang="ko-KR" altLang="en-US" sz="1200" dirty="0"/>
              <a:t>그레이로 자연스럽게 연결</a:t>
            </a:r>
            <a:endParaRPr kumimoji="1" lang="ko-Kore-KR" altLang="en-US" sz="1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1BCBEDF-2D27-F758-8318-EFC6A2D7D3A7}"/>
              </a:ext>
            </a:extLst>
          </p:cNvPr>
          <p:cNvSpPr txBox="1"/>
          <p:nvPr/>
        </p:nvSpPr>
        <p:spPr>
          <a:xfrm>
            <a:off x="8475203" y="4617966"/>
            <a:ext cx="1794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브라운 색상으로</a:t>
            </a:r>
            <a:endParaRPr kumimoji="1" lang="en-US" altLang="ko-KR" sz="1200" dirty="0"/>
          </a:p>
          <a:p>
            <a:r>
              <a:rPr kumimoji="1" lang="ko-KR" altLang="en-US" sz="1200" dirty="0"/>
              <a:t>차분함과 정돈됨을 표현</a:t>
            </a:r>
            <a:endParaRPr kumimoji="1" lang="ko-Kore-KR" altLang="en-US" sz="1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65DE80A-CD25-7688-B081-2A6397622A6A}"/>
              </a:ext>
            </a:extLst>
          </p:cNvPr>
          <p:cNvSpPr txBox="1"/>
          <p:nvPr/>
        </p:nvSpPr>
        <p:spPr>
          <a:xfrm>
            <a:off x="2054457" y="2674714"/>
            <a:ext cx="10662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Black &amp; White</a:t>
            </a:r>
            <a:endParaRPr kumimoji="1" lang="ko-Kore-KR" altLang="en-US" sz="1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1F866B6-157E-59D0-EE6F-1146E4BC933E}"/>
              </a:ext>
            </a:extLst>
          </p:cNvPr>
          <p:cNvSpPr txBox="1"/>
          <p:nvPr/>
        </p:nvSpPr>
        <p:spPr>
          <a:xfrm>
            <a:off x="2337905" y="3830012"/>
            <a:ext cx="4719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Gray</a:t>
            </a:r>
            <a:endParaRPr kumimoji="1" lang="ko-Kore-KR" altLang="en-US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435CB65-96FF-E932-173E-BFD115E0337F}"/>
              </a:ext>
            </a:extLst>
          </p:cNvPr>
          <p:cNvSpPr txBox="1"/>
          <p:nvPr/>
        </p:nvSpPr>
        <p:spPr>
          <a:xfrm>
            <a:off x="2304926" y="4949505"/>
            <a:ext cx="5903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Brown</a:t>
            </a:r>
            <a:endParaRPr kumimoji="1" lang="ko-Kore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12504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053D399-DC09-F1ED-E75B-F1945511F6A3}"/>
              </a:ext>
            </a:extLst>
          </p:cNvPr>
          <p:cNvCxnSpPr>
            <a:cxnSpLocks/>
          </p:cNvCxnSpPr>
          <p:nvPr/>
        </p:nvCxnSpPr>
        <p:spPr>
          <a:xfrm>
            <a:off x="344556" y="950843"/>
            <a:ext cx="11847444" cy="0"/>
          </a:xfrm>
          <a:prstGeom prst="line">
            <a:avLst/>
          </a:prstGeom>
          <a:ln w="19050">
            <a:solidFill>
              <a:srgbClr val="B39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045ECE-8D6C-1599-57DD-5A4C7BEB0402}"/>
              </a:ext>
            </a:extLst>
          </p:cNvPr>
          <p:cNvSpPr txBox="1"/>
          <p:nvPr/>
        </p:nvSpPr>
        <p:spPr>
          <a:xfrm>
            <a:off x="344556" y="195688"/>
            <a:ext cx="3796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rgbClr val="B39273"/>
                </a:solidFill>
              </a:rPr>
              <a:t>화면 구조 설계</a:t>
            </a:r>
            <a:r>
              <a:rPr lang="en-US" altLang="ko-KR" sz="3600" b="1" spc="-300" dirty="0">
                <a:solidFill>
                  <a:srgbClr val="B39273"/>
                </a:solidFill>
              </a:rPr>
              <a:t> </a:t>
            </a:r>
            <a:r>
              <a:rPr lang="en-US" altLang="ko-KR" sz="2800" b="1" spc="-300" dirty="0">
                <a:solidFill>
                  <a:srgbClr val="B39273"/>
                </a:solidFill>
              </a:rPr>
              <a:t>(</a:t>
            </a:r>
            <a:r>
              <a:rPr lang="ko-KR" altLang="en-US" sz="2800" b="1" spc="-300" dirty="0">
                <a:solidFill>
                  <a:srgbClr val="B39273"/>
                </a:solidFill>
              </a:rPr>
              <a:t> 메인</a:t>
            </a:r>
            <a:r>
              <a:rPr lang="en-US" altLang="ko-KR" sz="2800" b="1" spc="-300" dirty="0">
                <a:solidFill>
                  <a:srgbClr val="B39273"/>
                </a:solidFill>
              </a:rPr>
              <a:t>)</a:t>
            </a:r>
            <a:r>
              <a:rPr lang="ko-KR" altLang="en-US" sz="2800" b="1" spc="-300" dirty="0">
                <a:solidFill>
                  <a:srgbClr val="B39273"/>
                </a:solidFill>
              </a:rPr>
              <a:t> </a:t>
            </a:r>
          </a:p>
        </p:txBody>
      </p:sp>
      <p:sp>
        <p:nvSpPr>
          <p:cNvPr id="8" name="正方形/長方形 1">
            <a:extLst>
              <a:ext uri="{FF2B5EF4-FFF2-40B4-BE49-F238E27FC236}">
                <a16:creationId xmlns:a16="http://schemas.microsoft.com/office/drawing/2014/main" id="{E24B5F73-ED7D-F05C-B6A1-F07C8119FDD9}"/>
              </a:ext>
            </a:extLst>
          </p:cNvPr>
          <p:cNvSpPr/>
          <p:nvPr/>
        </p:nvSpPr>
        <p:spPr>
          <a:xfrm>
            <a:off x="344556" y="6559826"/>
            <a:ext cx="11847443" cy="152400"/>
          </a:xfrm>
          <a:prstGeom prst="rect">
            <a:avLst/>
          </a:prstGeom>
          <a:solidFill>
            <a:srgbClr val="B39273"/>
          </a:solidFill>
          <a:ln>
            <a:solidFill>
              <a:srgbClr val="B392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DC69EE-036D-9B64-DE77-3C57A6872E7D}"/>
              </a:ext>
            </a:extLst>
          </p:cNvPr>
          <p:cNvGrpSpPr/>
          <p:nvPr/>
        </p:nvGrpSpPr>
        <p:grpSpPr>
          <a:xfrm>
            <a:off x="2989112" y="5943403"/>
            <a:ext cx="6558330" cy="369332"/>
            <a:chOff x="2638135" y="6042959"/>
            <a:chExt cx="6558330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C3040A3-7A15-D22F-C8A8-8980CDF56A68}"/>
                </a:ext>
              </a:extLst>
            </p:cNvPr>
            <p:cNvSpPr txBox="1"/>
            <p:nvPr/>
          </p:nvSpPr>
          <p:spPr>
            <a:xfrm>
              <a:off x="2638135" y="6042959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dirty="0">
                  <a:latin typeface="+mj-ea"/>
                  <a:ea typeface="+mj-ea"/>
                </a:rPr>
                <a:t>PC</a:t>
              </a:r>
              <a:endParaRPr kumimoji="1" lang="ko-Kore-KR" altLang="en-US" dirty="0">
                <a:latin typeface="+mj-ea"/>
                <a:ea typeface="+mj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FD44B1-4625-C0CB-77AF-25F637309115}"/>
                </a:ext>
              </a:extLst>
            </p:cNvPr>
            <p:cNvSpPr txBox="1"/>
            <p:nvPr/>
          </p:nvSpPr>
          <p:spPr>
            <a:xfrm>
              <a:off x="5440974" y="6042959"/>
              <a:ext cx="10395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dirty="0">
                  <a:latin typeface="+mj-ea"/>
                  <a:ea typeface="+mj-ea"/>
                </a:rPr>
                <a:t>TABLET</a:t>
              </a:r>
              <a:endParaRPr kumimoji="1" lang="ko-Kore-KR" altLang="en-US" dirty="0">
                <a:latin typeface="+mj-ea"/>
                <a:ea typeface="+mj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AA0C741-4C23-996A-CBBE-DCBAF240BDFE}"/>
                </a:ext>
              </a:extLst>
            </p:cNvPr>
            <p:cNvSpPr txBox="1"/>
            <p:nvPr/>
          </p:nvSpPr>
          <p:spPr>
            <a:xfrm>
              <a:off x="8139765" y="6042959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dirty="0">
                  <a:latin typeface="+mj-ea"/>
                  <a:ea typeface="+mj-ea"/>
                </a:rPr>
                <a:t>MOBILE</a:t>
              </a:r>
              <a:endParaRPr kumimoji="1" lang="ko-Kore-KR" altLang="en-US" dirty="0">
                <a:latin typeface="+mj-ea"/>
                <a:ea typeface="+mj-ea"/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C8AE8D19-7D3E-2ACB-9964-9439D1379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053" y="1264099"/>
            <a:ext cx="1424480" cy="44500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2C7F4B4-9DB2-173F-AD6F-EB88FC8C7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4169" y="1260340"/>
            <a:ext cx="389845" cy="405938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8EE7122-8E8B-F66C-00D3-FE3FB7DF4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8755" y="1260340"/>
            <a:ext cx="1039580" cy="41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768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053D399-DC09-F1ED-E75B-F1945511F6A3}"/>
              </a:ext>
            </a:extLst>
          </p:cNvPr>
          <p:cNvCxnSpPr>
            <a:cxnSpLocks/>
          </p:cNvCxnSpPr>
          <p:nvPr/>
        </p:nvCxnSpPr>
        <p:spPr>
          <a:xfrm>
            <a:off x="344556" y="950843"/>
            <a:ext cx="11847444" cy="0"/>
          </a:xfrm>
          <a:prstGeom prst="line">
            <a:avLst/>
          </a:prstGeom>
          <a:ln w="19050">
            <a:solidFill>
              <a:srgbClr val="B39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045ECE-8D6C-1599-57DD-5A4C7BEB0402}"/>
              </a:ext>
            </a:extLst>
          </p:cNvPr>
          <p:cNvSpPr txBox="1"/>
          <p:nvPr/>
        </p:nvSpPr>
        <p:spPr>
          <a:xfrm>
            <a:off x="344556" y="195688"/>
            <a:ext cx="2366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rgbClr val="B39273"/>
                </a:solidFill>
              </a:rPr>
              <a:t>시안 디자인</a:t>
            </a:r>
            <a:endParaRPr lang="ko-KR" altLang="en-US" sz="2800" b="1" spc="-300" dirty="0">
              <a:solidFill>
                <a:srgbClr val="B39273"/>
              </a:solidFill>
            </a:endParaRPr>
          </a:p>
        </p:txBody>
      </p:sp>
      <p:sp>
        <p:nvSpPr>
          <p:cNvPr id="8" name="正方形/長方形 1">
            <a:extLst>
              <a:ext uri="{FF2B5EF4-FFF2-40B4-BE49-F238E27FC236}">
                <a16:creationId xmlns:a16="http://schemas.microsoft.com/office/drawing/2014/main" id="{E24B5F73-ED7D-F05C-B6A1-F07C8119FDD9}"/>
              </a:ext>
            </a:extLst>
          </p:cNvPr>
          <p:cNvSpPr/>
          <p:nvPr/>
        </p:nvSpPr>
        <p:spPr>
          <a:xfrm>
            <a:off x="344556" y="6559826"/>
            <a:ext cx="11847443" cy="152400"/>
          </a:xfrm>
          <a:prstGeom prst="rect">
            <a:avLst/>
          </a:prstGeom>
          <a:solidFill>
            <a:srgbClr val="B39273"/>
          </a:solidFill>
          <a:ln>
            <a:solidFill>
              <a:srgbClr val="B392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6DC69EE-036D-9B64-DE77-3C57A6872E7D}"/>
              </a:ext>
            </a:extLst>
          </p:cNvPr>
          <p:cNvGrpSpPr/>
          <p:nvPr/>
        </p:nvGrpSpPr>
        <p:grpSpPr>
          <a:xfrm>
            <a:off x="2989112" y="5943403"/>
            <a:ext cx="6558330" cy="369332"/>
            <a:chOff x="2638135" y="6042959"/>
            <a:chExt cx="6558330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C3040A3-7A15-D22F-C8A8-8980CDF56A68}"/>
                </a:ext>
              </a:extLst>
            </p:cNvPr>
            <p:cNvSpPr txBox="1"/>
            <p:nvPr/>
          </p:nvSpPr>
          <p:spPr>
            <a:xfrm>
              <a:off x="2638135" y="6042959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dirty="0">
                  <a:latin typeface="+mj-ea"/>
                  <a:ea typeface="+mj-ea"/>
                </a:rPr>
                <a:t>PC</a:t>
              </a:r>
              <a:endParaRPr kumimoji="1" lang="ko-Kore-KR" altLang="en-US" dirty="0">
                <a:latin typeface="+mj-ea"/>
                <a:ea typeface="+mj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7FD44B1-4625-C0CB-77AF-25F637309115}"/>
                </a:ext>
              </a:extLst>
            </p:cNvPr>
            <p:cNvSpPr txBox="1"/>
            <p:nvPr/>
          </p:nvSpPr>
          <p:spPr>
            <a:xfrm>
              <a:off x="5440974" y="6042959"/>
              <a:ext cx="10395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dirty="0">
                  <a:latin typeface="+mj-ea"/>
                  <a:ea typeface="+mj-ea"/>
                </a:rPr>
                <a:t>TABLET</a:t>
              </a:r>
              <a:endParaRPr kumimoji="1" lang="ko-Kore-KR" altLang="en-US" dirty="0">
                <a:latin typeface="+mj-ea"/>
                <a:ea typeface="+mj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AA0C741-4C23-996A-CBBE-DCBAF240BDFE}"/>
                </a:ext>
              </a:extLst>
            </p:cNvPr>
            <p:cNvSpPr txBox="1"/>
            <p:nvPr/>
          </p:nvSpPr>
          <p:spPr>
            <a:xfrm>
              <a:off x="8139765" y="6042959"/>
              <a:ext cx="1056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ore-KR" dirty="0">
                  <a:latin typeface="+mj-ea"/>
                  <a:ea typeface="+mj-ea"/>
                </a:rPr>
                <a:t>MOBILE</a:t>
              </a:r>
              <a:endParaRPr kumimoji="1" lang="ko-Kore-KR" altLang="en-US" dirty="0">
                <a:latin typeface="+mj-ea"/>
                <a:ea typeface="+mj-ea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71A03C43-E5B3-54E2-2033-6C5BBF8D8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779" y="1089110"/>
            <a:ext cx="1481932" cy="462949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A2C89C2-624F-F197-405C-9DC9B498F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619" y="1339179"/>
            <a:ext cx="1039581" cy="417964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4290B6D-7E31-841D-573E-4FD4E9FAD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283" y="1179063"/>
            <a:ext cx="453618" cy="472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75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2814</TotalTime>
  <Words>634</Words>
  <Application>Microsoft Macintosh PowerPoint</Application>
  <PresentationFormat>와이드스크린</PresentationFormat>
  <Paragraphs>256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나눔스퀘어 ExtraBold</vt:lpstr>
      <vt:lpstr>돋움</vt:lpstr>
      <vt:lpstr>굴림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김다빈</dc:creator>
  <cp:lastModifiedBy>김다빈</cp:lastModifiedBy>
  <cp:revision>129</cp:revision>
  <dcterms:created xsi:type="dcterms:W3CDTF">2022-11-29T03:04:49Z</dcterms:created>
  <dcterms:modified xsi:type="dcterms:W3CDTF">2023-02-09T00:10:30Z</dcterms:modified>
</cp:coreProperties>
</file>